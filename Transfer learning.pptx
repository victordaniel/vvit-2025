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54" r:id="rId2"/>
    <p:sldId id="455" r:id="rId3"/>
    <p:sldId id="366" r:id="rId4"/>
    <p:sldId id="456" r:id="rId5"/>
    <p:sldId id="379" r:id="rId6"/>
    <p:sldId id="380" r:id="rId7"/>
    <p:sldId id="381" r:id="rId8"/>
    <p:sldId id="382" r:id="rId9"/>
    <p:sldId id="457" r:id="rId10"/>
    <p:sldId id="458" r:id="rId11"/>
    <p:sldId id="479" r:id="rId12"/>
    <p:sldId id="459" r:id="rId13"/>
    <p:sldId id="383" r:id="rId14"/>
    <p:sldId id="368" r:id="rId15"/>
    <p:sldId id="460" r:id="rId16"/>
    <p:sldId id="461" r:id="rId17"/>
    <p:sldId id="462" r:id="rId18"/>
    <p:sldId id="478" r:id="rId19"/>
    <p:sldId id="475" r:id="rId20"/>
    <p:sldId id="469" r:id="rId21"/>
    <p:sldId id="473" r:id="rId22"/>
    <p:sldId id="474" r:id="rId23"/>
    <p:sldId id="477" r:id="rId24"/>
    <p:sldId id="476" r:id="rId25"/>
    <p:sldId id="463" r:id="rId26"/>
    <p:sldId id="464" r:id="rId27"/>
    <p:sldId id="472" r:id="rId28"/>
    <p:sldId id="465" r:id="rId29"/>
    <p:sldId id="466" r:id="rId30"/>
    <p:sldId id="467" r:id="rId31"/>
    <p:sldId id="468" r:id="rId32"/>
    <p:sldId id="471" r:id="rId33"/>
    <p:sldId id="470" r:id="rId34"/>
    <p:sldId id="480" r:id="rId35"/>
    <p:sldId id="481" r:id="rId3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inimized">
    <p:restoredLeft sz="0" autoAdjust="0"/>
    <p:restoredTop sz="0" autoAdjust="0"/>
  </p:normalViewPr>
  <p:slideViewPr>
    <p:cSldViewPr>
      <p:cViewPr varScale="1">
        <p:scale>
          <a:sx n="20" d="100"/>
          <a:sy n="20" d="100"/>
        </p:scale>
        <p:origin x="3030" y="1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94458" y="613028"/>
            <a:ext cx="9120505" cy="513715"/>
          </a:xfrm>
          <a:prstGeom prst="rect">
            <a:avLst/>
          </a:prstGeom>
        </p:spPr>
        <p:txBody>
          <a:bodyPr wrap="square" lIns="0" tIns="0" rIns="0" bIns="0">
            <a:spAutoFit/>
          </a:bodyPr>
          <a:lstStyle>
            <a:lvl1pPr>
              <a:defRPr sz="3200" b="1" i="0">
                <a:solidFill>
                  <a:srgbClr val="C00000"/>
                </a:solidFill>
                <a:latin typeface="Calibri"/>
                <a:cs typeface="Calibri"/>
              </a:defRPr>
            </a:lvl1pPr>
          </a:lstStyle>
          <a:p>
            <a:endParaRPr/>
          </a:p>
        </p:txBody>
      </p:sp>
      <p:sp>
        <p:nvSpPr>
          <p:cNvPr id="3" name="Holder 3"/>
          <p:cNvSpPr>
            <a:spLocks noGrp="1"/>
          </p:cNvSpPr>
          <p:nvPr>
            <p:ph type="body" idx="1"/>
          </p:nvPr>
        </p:nvSpPr>
        <p:spPr>
          <a:xfrm>
            <a:off x="603250" y="1295400"/>
            <a:ext cx="11363325" cy="46748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11/10/2025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technologyreview.com/s/613630/training-a-single-ai-model-can-emit-as-much-carbon-as-five-cars-in-their-lifetim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v7labs.com/blog/computer-vision-application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research-collection.ethz.ch/bitstream/handle/20.500.11850/468402/3/1-s2.0-S0950705121000794-main.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v7labs.com/blog/quality-training-data-for-machine-learning-guid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allerin.com/blog/you-will-be-shocked-to-know-the-gender-gap-in-technolog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25980"/>
            <a:ext cx="10363200" cy="1661993"/>
          </a:xfrm>
        </p:spPr>
        <p:txBody>
          <a:bodyPr/>
          <a:lstStyle/>
          <a:p>
            <a:pPr algn="ctr"/>
            <a:r>
              <a:rPr lang="en-US" sz="3600" dirty="0" smtClean="0"/>
              <a:t>Deep Learning</a:t>
            </a:r>
            <a:br>
              <a:rPr lang="en-US" sz="3600" dirty="0" smtClean="0"/>
            </a:br>
            <a:r>
              <a:rPr lang="en-US" sz="3600" dirty="0" smtClean="0"/>
              <a:t/>
            </a:r>
            <a:br>
              <a:rPr lang="en-US" sz="3600" dirty="0" smtClean="0"/>
            </a:br>
            <a:r>
              <a:rPr lang="en-US" sz="3600" dirty="0" smtClean="0"/>
              <a:t>Transfer Learning</a:t>
            </a:r>
            <a:endParaRPr lang="en-US" sz="3600" dirty="0"/>
          </a:p>
        </p:txBody>
      </p:sp>
      <p:sp>
        <p:nvSpPr>
          <p:cNvPr id="3" name="Subtitle 2"/>
          <p:cNvSpPr>
            <a:spLocks noGrp="1"/>
          </p:cNvSpPr>
          <p:nvPr>
            <p:ph type="subTitle" idx="4"/>
          </p:nvPr>
        </p:nvSpPr>
        <p:spPr>
          <a:xfrm>
            <a:off x="1828800" y="3840480"/>
            <a:ext cx="8534400" cy="276999"/>
          </a:xfrm>
        </p:spPr>
        <p:txBody>
          <a:bodyPr/>
          <a:lstStyle/>
          <a:p>
            <a:pPr algn="ct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3028"/>
            <a:ext cx="10405363" cy="615553"/>
          </a:xfrm>
        </p:spPr>
        <p:txBody>
          <a:bodyPr/>
          <a:lstStyle/>
          <a:p>
            <a:r>
              <a:rPr lang="en-US" sz="4000" dirty="0" smtClean="0">
                <a:latin typeface="Times New Roman" pitchFamily="18" charset="0"/>
                <a:cs typeface="Times New Roman" pitchFamily="18" charset="0"/>
              </a:rPr>
              <a:t>Table of Contents</a:t>
            </a:r>
            <a:endParaRPr lang="en-US" sz="4000" dirty="0">
              <a:latin typeface="Times New Roman" pitchFamily="18" charset="0"/>
              <a:cs typeface="Times New Roman" pitchFamily="18" charset="0"/>
            </a:endParaRPr>
          </a:p>
        </p:txBody>
      </p:sp>
      <p:sp>
        <p:nvSpPr>
          <p:cNvPr id="3" name="Text Placeholder 2"/>
          <p:cNvSpPr>
            <a:spLocks noGrp="1"/>
          </p:cNvSpPr>
          <p:nvPr>
            <p:ph type="body" idx="1"/>
          </p:nvPr>
        </p:nvSpPr>
        <p:spPr>
          <a:xfrm>
            <a:off x="603250" y="1295400"/>
            <a:ext cx="11363325" cy="5027402"/>
          </a:xfrm>
        </p:spPr>
        <p:txBody>
          <a:bodyPr/>
          <a:lstStyle/>
          <a:p>
            <a:pPr marL="509588" indent="-339725">
              <a:lnSpc>
                <a:spcPts val="4400"/>
              </a:lnSpc>
              <a:buFont typeface="Arial" pitchFamily="34" charset="0"/>
              <a:buChar char="•"/>
            </a:pPr>
            <a:r>
              <a:rPr lang="en-US" sz="3000" dirty="0" smtClean="0">
                <a:latin typeface="Times New Roman" pitchFamily="18" charset="0"/>
                <a:cs typeface="Times New Roman" pitchFamily="18" charset="0"/>
              </a:rPr>
              <a:t>What Is Transfer Learning?</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How Does Transfer Learning Work?</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Why Is Transfer Learning Used?</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When Should Transfer Learning Be Used?</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Approaches to Transfer Learning</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Types</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Methodologies</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Diving into Transfer Learning</a:t>
            </a:r>
          </a:p>
          <a:p>
            <a:pPr marL="509588" indent="-339725">
              <a:lnSpc>
                <a:spcPts val="4400"/>
              </a:lnSpc>
              <a:buFont typeface="Arial" pitchFamily="34" charset="0"/>
              <a:buChar char="•"/>
            </a:pPr>
            <a:r>
              <a:rPr lang="en-US" sz="3000" dirty="0" smtClean="0">
                <a:latin typeface="Times New Roman" pitchFamily="18" charset="0"/>
                <a:cs typeface="Times New Roman" pitchFamily="18" charset="0"/>
              </a:rPr>
              <a:t>Challenges</a:t>
            </a:r>
            <a:endParaRPr lang="en-US" sz="3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pPr algn="ctr"/>
            <a:r>
              <a:rPr lang="en-US" sz="3600" cap="all" dirty="0" smtClean="0">
                <a:latin typeface="Times New Roman" pitchFamily="18" charset="0"/>
                <a:cs typeface="Times New Roman" pitchFamily="18" charset="0"/>
              </a:rPr>
              <a:t>WHAT IS TRANSFER LEARNING?</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5770811"/>
          </a:xfrm>
        </p:spPr>
        <p:txBody>
          <a:bodyPr/>
          <a:lstStyle/>
          <a:p>
            <a:pPr marL="339725" indent="-287338">
              <a:lnSpc>
                <a:spcPct val="150000"/>
              </a:lnSpc>
              <a:buFont typeface="Arial" pitchFamily="34" charset="0"/>
              <a:buChar char="•"/>
            </a:pPr>
            <a:r>
              <a:rPr lang="en-US" sz="2800" i="1" dirty="0" smtClean="0">
                <a:latin typeface="Times New Roman" pitchFamily="18" charset="0"/>
                <a:cs typeface="Times New Roman" pitchFamily="18" charset="0"/>
              </a:rPr>
              <a:t>Def:</a:t>
            </a:r>
            <a:r>
              <a:rPr lang="en-US" sz="2800" dirty="0" smtClean="0">
                <a:latin typeface="Times New Roman" pitchFamily="18" charset="0"/>
                <a:cs typeface="Times New Roman" pitchFamily="18" charset="0"/>
              </a:rPr>
              <a:t> Model A is successfully trained to solve source task </a:t>
            </a:r>
            <a:r>
              <a:rPr lang="en-US" sz="2800" dirty="0" err="1" smtClean="0">
                <a:latin typeface="Times New Roman" pitchFamily="18" charset="0"/>
                <a:cs typeface="Times New Roman" pitchFamily="18" charset="0"/>
              </a:rPr>
              <a:t>T.a</a:t>
            </a:r>
            <a:r>
              <a:rPr lang="en-US" sz="2800" dirty="0" smtClean="0">
                <a:latin typeface="Times New Roman" pitchFamily="18" charset="0"/>
                <a:cs typeface="Times New Roman" pitchFamily="18" charset="0"/>
              </a:rPr>
              <a:t> using a large dataset </a:t>
            </a:r>
            <a:r>
              <a:rPr lang="en-US" sz="2800" dirty="0" err="1" smtClean="0">
                <a:latin typeface="Times New Roman" pitchFamily="18" charset="0"/>
                <a:cs typeface="Times New Roman" pitchFamily="18" charset="0"/>
              </a:rPr>
              <a:t>D.a</a:t>
            </a:r>
            <a:r>
              <a:rPr lang="en-US" sz="2800" dirty="0" smtClean="0">
                <a:latin typeface="Times New Roman" pitchFamily="18" charset="0"/>
                <a:cs typeface="Times New Roman" pitchFamily="18" charset="0"/>
              </a:rPr>
              <a:t>. However, the dataset </a:t>
            </a:r>
            <a:r>
              <a:rPr lang="en-US" sz="2800" dirty="0" err="1" smtClean="0">
                <a:latin typeface="Times New Roman" pitchFamily="18" charset="0"/>
                <a:cs typeface="Times New Roman" pitchFamily="18" charset="0"/>
              </a:rPr>
              <a:t>D.b</a:t>
            </a:r>
            <a:r>
              <a:rPr lang="en-US" sz="2800" dirty="0" smtClean="0">
                <a:latin typeface="Times New Roman" pitchFamily="18" charset="0"/>
                <a:cs typeface="Times New Roman" pitchFamily="18" charset="0"/>
              </a:rPr>
              <a:t> for a target task </a:t>
            </a:r>
            <a:r>
              <a:rPr lang="en-US" sz="2800" dirty="0" err="1" smtClean="0">
                <a:latin typeface="Times New Roman" pitchFamily="18" charset="0"/>
                <a:cs typeface="Times New Roman" pitchFamily="18" charset="0"/>
              </a:rPr>
              <a:t>T.b</a:t>
            </a:r>
            <a:r>
              <a:rPr lang="en-US" sz="2800" dirty="0" smtClean="0">
                <a:latin typeface="Times New Roman" pitchFamily="18" charset="0"/>
                <a:cs typeface="Times New Roman" pitchFamily="18" charset="0"/>
              </a:rPr>
              <a:t> is too small, preventing Model B from training efficiently. Thus, we use part of model A to predict results for task </a:t>
            </a:r>
            <a:r>
              <a:rPr lang="en-US" sz="2800" dirty="0" err="1" smtClean="0">
                <a:latin typeface="Times New Roman" pitchFamily="18" charset="0"/>
                <a:cs typeface="Times New Roman" pitchFamily="18" charset="0"/>
              </a:rPr>
              <a:t>T.b</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marL="339725" indent="-287338">
              <a:lnSpc>
                <a:spcPct val="150000"/>
              </a:lnSpc>
              <a:buFont typeface="Arial" pitchFamily="34" charset="0"/>
              <a:buChar char="•"/>
            </a:pPr>
            <a:r>
              <a:rPr lang="en-US" sz="2800" dirty="0" smtClean="0">
                <a:latin typeface="Times New Roman" pitchFamily="18" charset="0"/>
                <a:cs typeface="Times New Roman" pitchFamily="18" charset="0"/>
              </a:rPr>
              <a:t>A common misconception is that training and testing data should come from the same source or be with the same distribution.</a:t>
            </a:r>
          </a:p>
          <a:p>
            <a:pPr marL="339725" indent="-287338">
              <a:lnSpc>
                <a:spcPct val="150000"/>
              </a:lnSpc>
              <a:buFont typeface="Arial" pitchFamily="34" charset="0"/>
              <a:buChar char="•"/>
            </a:pPr>
            <a:r>
              <a:rPr lang="en-US" sz="2800" dirty="0" smtClean="0">
                <a:latin typeface="Times New Roman" pitchFamily="18" charset="0"/>
                <a:cs typeface="Times New Roman" pitchFamily="18" charset="0"/>
              </a:rPr>
              <a:t>Using transfer learning, we are able to solve a particular task using full or part of an already pre-trained model on a different task.</a:t>
            </a:r>
            <a:br>
              <a:rPr lang="en-US" sz="2800" dirty="0" smtClean="0">
                <a:latin typeface="Times New Roman" pitchFamily="18" charset="0"/>
                <a:cs typeface="Times New Roman" pitchFamily="18" charset="0"/>
              </a:rPr>
            </a:b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pPr algn="ctr"/>
            <a:r>
              <a:rPr lang="en-US" sz="3600" cap="all" dirty="0" smtClean="0">
                <a:latin typeface="Times New Roman" pitchFamily="18" charset="0"/>
                <a:cs typeface="Times New Roman" pitchFamily="18" charset="0"/>
              </a:rPr>
              <a:t>WHAT IS TRANSFER LEARNING?</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5816977"/>
          </a:xfrm>
        </p:spPr>
        <p:txBody>
          <a:bodyPr/>
          <a:lstStyle/>
          <a:p>
            <a:pPr marL="404813" indent="-352425" algn="just">
              <a:lnSpc>
                <a:spcPct val="150000"/>
              </a:lnSpc>
              <a:buFont typeface="Arial" pitchFamily="34" charset="0"/>
              <a:buChar char="•"/>
            </a:pPr>
            <a:r>
              <a:rPr lang="en-US" sz="2800" dirty="0" smtClean="0">
                <a:latin typeface="Times New Roman" pitchFamily="18" charset="0"/>
                <a:cs typeface="Times New Roman" pitchFamily="18" charset="0"/>
              </a:rPr>
              <a:t>Transfer learning, used in machine learning, is the reuse of a pre-trained model on a new problem. </a:t>
            </a:r>
          </a:p>
          <a:p>
            <a:pPr marL="404813" indent="-352425" algn="just">
              <a:lnSpc>
                <a:spcPct val="150000"/>
              </a:lnSpc>
              <a:buFont typeface="Arial" pitchFamily="34" charset="0"/>
              <a:buChar char="•"/>
            </a:pPr>
            <a:r>
              <a:rPr lang="en-US" sz="2800" dirty="0" smtClean="0">
                <a:latin typeface="Times New Roman" pitchFamily="18" charset="0"/>
                <a:cs typeface="Times New Roman" pitchFamily="18" charset="0"/>
              </a:rPr>
              <a:t>In transfer learning, a machine exploits the knowledge gained from a previous task to improve generalization about another.</a:t>
            </a:r>
          </a:p>
          <a:p>
            <a:pPr marL="404813" indent="-352425" algn="just">
              <a:lnSpc>
                <a:spcPct val="150000"/>
              </a:lnSpc>
              <a:buFont typeface="Arial" pitchFamily="34" charset="0"/>
              <a:buChar char="•"/>
            </a:pPr>
            <a:r>
              <a:rPr lang="en-US" sz="2800" dirty="0" smtClean="0">
                <a:latin typeface="Times New Roman" pitchFamily="18" charset="0"/>
                <a:cs typeface="Times New Roman" pitchFamily="18" charset="0"/>
              </a:rPr>
              <a:t>Example1, in training a classifier to predict whether an image contains food, you could use the knowledge it gained during training to recognize drinks.</a:t>
            </a:r>
          </a:p>
          <a:p>
            <a:pPr marL="404813" indent="-352425" algn="just">
              <a:lnSpc>
                <a:spcPct val="150000"/>
              </a:lnSpc>
              <a:buFont typeface="Arial" pitchFamily="34" charset="0"/>
              <a:buChar char="•"/>
            </a:pPr>
            <a:r>
              <a:rPr lang="en-US" sz="2800" dirty="0" smtClean="0">
                <a:latin typeface="Times New Roman" pitchFamily="18" charset="0"/>
                <a:cs typeface="Times New Roman" pitchFamily="18" charset="0"/>
              </a:rPr>
              <a:t>Example2, in training a classifier to predict whether an image contains a backpack, you could use the knowledge that the model gained during its training to recognize other objects like sunglasses.</a:t>
            </a: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739505" cy="553998"/>
          </a:xfrm>
        </p:spPr>
        <p:txBody>
          <a:bodyPr/>
          <a:lstStyle/>
          <a:p>
            <a:r>
              <a:rPr lang="en-US" sz="3600" cap="all" dirty="0" smtClean="0">
                <a:latin typeface="Times New Roman" pitchFamily="18" charset="0"/>
                <a:cs typeface="Times New Roman" pitchFamily="18" charset="0"/>
              </a:rPr>
              <a:t>WHAT IS TRANSFER LEARNING?</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2539157"/>
          </a:xfrm>
        </p:spPr>
        <p:txBody>
          <a:bodyPr/>
          <a:lstStyle/>
          <a:p>
            <a:pPr marL="233363" indent="-233363" algn="just">
              <a:lnSpc>
                <a:spcPts val="3300"/>
              </a:lnSpc>
              <a:buFont typeface="Arial" pitchFamily="34" charset="0"/>
              <a:buChar char="•"/>
              <a:tabLst>
                <a:tab pos="117475" algn="l"/>
              </a:tabLst>
            </a:pPr>
            <a:r>
              <a:rPr lang="en-US" sz="2500" dirty="0" smtClean="0">
                <a:latin typeface="Times New Roman" pitchFamily="18" charset="0"/>
                <a:cs typeface="Times New Roman" pitchFamily="18" charset="0"/>
              </a:rPr>
              <a:t>With transfer learning, we basically try to use what we’ve learned in one task to better understand the concepts in another. weights are being automatically being shifted to a network performing “task A” from a network that performed new “task B.”</a:t>
            </a:r>
          </a:p>
          <a:p>
            <a:pPr marL="233363" indent="-233363" algn="just">
              <a:lnSpc>
                <a:spcPts val="3300"/>
              </a:lnSpc>
              <a:buFont typeface="Arial" pitchFamily="34" charset="0"/>
              <a:buChar char="•"/>
            </a:pPr>
            <a:r>
              <a:rPr lang="en-US" sz="2500" dirty="0" smtClean="0">
                <a:latin typeface="Times New Roman" pitchFamily="18" charset="0"/>
                <a:cs typeface="Times New Roman" pitchFamily="18" charset="0"/>
              </a:rPr>
              <a:t>Because of the massive amount of </a:t>
            </a:r>
            <a:r>
              <a:rPr lang="en-US" sz="2500" b="1" dirty="0" smtClean="0">
                <a:latin typeface="Times New Roman" pitchFamily="18" charset="0"/>
                <a:cs typeface="Times New Roman" pitchFamily="18" charset="0"/>
              </a:rPr>
              <a:t>CPU power required</a:t>
            </a:r>
            <a:r>
              <a:rPr lang="en-US" sz="2500" dirty="0" smtClean="0">
                <a:latin typeface="Times New Roman" pitchFamily="18" charset="0"/>
                <a:cs typeface="Times New Roman" pitchFamily="18" charset="0"/>
              </a:rPr>
              <a:t>, transfer learning is typically </a:t>
            </a:r>
            <a:r>
              <a:rPr lang="en-US" sz="2500" b="1" dirty="0" smtClean="0">
                <a:latin typeface="Times New Roman" pitchFamily="18" charset="0"/>
                <a:cs typeface="Times New Roman" pitchFamily="18" charset="0"/>
              </a:rPr>
              <a:t>applied in computer vision and natural language processing tasks like sentiment analysis.</a:t>
            </a: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290" name="Picture 2" descr="what is Transfer Learning"/>
          <p:cNvPicPr>
            <a:picLocks noChangeAspect="1" noChangeArrowheads="1"/>
          </p:cNvPicPr>
          <p:nvPr/>
        </p:nvPicPr>
        <p:blipFill>
          <a:blip r:embed="rId2"/>
          <a:srcRect/>
          <a:stretch>
            <a:fillRect/>
          </a:stretch>
        </p:blipFill>
        <p:spPr bwMode="auto">
          <a:xfrm>
            <a:off x="3733800" y="3200400"/>
            <a:ext cx="4839268" cy="35052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739505" cy="553998"/>
          </a:xfrm>
        </p:spPr>
        <p:txBody>
          <a:bodyPr/>
          <a:lstStyle/>
          <a:p>
            <a:r>
              <a:rPr lang="en-US" sz="3600" dirty="0" smtClean="0">
                <a:latin typeface="Times New Roman" pitchFamily="18" charset="0"/>
                <a:cs typeface="Times New Roman" pitchFamily="18" charset="0"/>
              </a:rPr>
              <a:t>How Transfer Learning Works</a:t>
            </a:r>
            <a:r>
              <a:rPr lang="en-US" sz="3600" b="0" dirty="0" smtClean="0">
                <a:latin typeface="Times New Roman" pitchFamily="18" charset="0"/>
                <a:cs typeface="Times New Roman" pitchFamily="18" charset="0"/>
              </a:rPr>
              <a:t>?</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609600" y="762000"/>
            <a:ext cx="11353800" cy="1803379"/>
          </a:xfrm>
        </p:spPr>
        <p:txBody>
          <a:bodyPr/>
          <a:lstStyle/>
          <a:p>
            <a:pPr marL="339725" indent="-339725">
              <a:lnSpc>
                <a:spcPts val="3600"/>
              </a:lnSpc>
              <a:buFont typeface="Arial" pitchFamily="34" charset="0"/>
              <a:buChar char="•"/>
            </a:pPr>
            <a:r>
              <a:rPr lang="en-US" sz="2400" dirty="0" smtClean="0">
                <a:latin typeface="Times New Roman" pitchFamily="18" charset="0"/>
                <a:cs typeface="Times New Roman" pitchFamily="18" charset="0"/>
              </a:rPr>
              <a:t>In computer vision, neural networks typically aim to detect edges in the first layer, forms in the middle layer, and task-specific features in the latter layers.</a:t>
            </a:r>
          </a:p>
          <a:p>
            <a:pPr marL="339725" indent="-339725">
              <a:lnSpc>
                <a:spcPts val="3600"/>
              </a:lnSpc>
              <a:buFont typeface="Arial" pitchFamily="34" charset="0"/>
              <a:buChar char="•"/>
            </a:pPr>
            <a:r>
              <a:rPr lang="en-US" sz="2400" dirty="0" smtClean="0">
                <a:latin typeface="Times New Roman" pitchFamily="18" charset="0"/>
                <a:cs typeface="Times New Roman" pitchFamily="18" charset="0"/>
              </a:rPr>
              <a:t>The early and central layers are employed in transfer learning, and the latter layers are only retrained. It makes use of the </a:t>
            </a:r>
            <a:r>
              <a:rPr lang="en-US" sz="2400" dirty="0" err="1" smtClean="0">
                <a:latin typeface="Times New Roman" pitchFamily="18" charset="0"/>
                <a:cs typeface="Times New Roman" pitchFamily="18" charset="0"/>
              </a:rPr>
              <a:t>labelled</a:t>
            </a:r>
            <a:r>
              <a:rPr lang="en-US" sz="2400" dirty="0" smtClean="0">
                <a:latin typeface="Times New Roman" pitchFamily="18" charset="0"/>
                <a:cs typeface="Times New Roman" pitchFamily="18" charset="0"/>
              </a:rPr>
              <a:t> data from the task it was trained on.</a:t>
            </a:r>
            <a:endParaRPr lang="en-US" sz="2400" dirty="0">
              <a:latin typeface="Times New Roman" pitchFamily="18" charset="0"/>
              <a:cs typeface="Times New Roman" pitchFamily="18" charset="0"/>
            </a:endParaRP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2" name="AutoShape 2"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4" name="AutoShape 4"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6" name="AutoShape 6"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90" name="AutoShape 10"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66" name="Picture 2" descr="   How Transfer Learning Works"/>
          <p:cNvPicPr>
            <a:picLocks noChangeAspect="1" noChangeArrowheads="1"/>
          </p:cNvPicPr>
          <p:nvPr/>
        </p:nvPicPr>
        <p:blipFill>
          <a:blip r:embed="rId2"/>
          <a:srcRect/>
          <a:stretch>
            <a:fillRect/>
          </a:stretch>
        </p:blipFill>
        <p:spPr bwMode="auto">
          <a:xfrm>
            <a:off x="304800" y="2667000"/>
            <a:ext cx="7925517" cy="4114800"/>
          </a:xfrm>
          <a:prstGeom prst="rect">
            <a:avLst/>
          </a:prstGeom>
          <a:noFill/>
        </p:spPr>
      </p:pic>
      <p:sp>
        <p:nvSpPr>
          <p:cNvPr id="12" name="Rectangle 11"/>
          <p:cNvSpPr/>
          <p:nvPr/>
        </p:nvSpPr>
        <p:spPr>
          <a:xfrm>
            <a:off x="8382000" y="2829848"/>
            <a:ext cx="3657600" cy="3647152"/>
          </a:xfrm>
          <a:prstGeom prst="rect">
            <a:avLst/>
          </a:prstGeom>
        </p:spPr>
        <p:txBody>
          <a:bodyPr wrap="square">
            <a:spAutoFit/>
          </a:bodyPr>
          <a:lstStyle/>
          <a:p>
            <a:pPr algn="just"/>
            <a:r>
              <a:rPr lang="en-US" sz="2100" dirty="0" smtClean="0">
                <a:latin typeface="Times New Roman" pitchFamily="18" charset="0"/>
                <a:cs typeface="Times New Roman" pitchFamily="18" charset="0"/>
              </a:rPr>
              <a:t>Let’s return to the example of a model that has been intended to identify a backpack in an image and will now be used to detect sunglasses. Because the model has trained to </a:t>
            </a:r>
            <a:r>
              <a:rPr lang="en-US" sz="2100" dirty="0" err="1" smtClean="0">
                <a:latin typeface="Times New Roman" pitchFamily="18" charset="0"/>
                <a:cs typeface="Times New Roman" pitchFamily="18" charset="0"/>
              </a:rPr>
              <a:t>recognise</a:t>
            </a:r>
            <a:r>
              <a:rPr lang="en-US" sz="2100" dirty="0" smtClean="0">
                <a:latin typeface="Times New Roman" pitchFamily="18" charset="0"/>
                <a:cs typeface="Times New Roman" pitchFamily="18" charset="0"/>
              </a:rPr>
              <a:t> objects in the earlier levels, we will simply retrain the subsequent layers to understand what distinguishes sunglasses from other objects.</a:t>
            </a:r>
            <a:endParaRPr lang="en-US" sz="21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739505" cy="553998"/>
          </a:xfrm>
        </p:spPr>
        <p:txBody>
          <a:bodyPr/>
          <a:lstStyle/>
          <a:p>
            <a:r>
              <a:rPr lang="en-US" sz="3600" dirty="0" smtClean="0">
                <a:latin typeface="Times New Roman" pitchFamily="18" charset="0"/>
                <a:cs typeface="Times New Roman" pitchFamily="18" charset="0"/>
              </a:rPr>
              <a:t>Why Should You Use Transfer Learning?</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2082301"/>
          </a:xfrm>
        </p:spPr>
        <p:txBody>
          <a:bodyPr/>
          <a:lstStyle/>
          <a:p>
            <a:pPr marL="339725" indent="-287338" algn="just">
              <a:lnSpc>
                <a:spcPts val="3280"/>
              </a:lnSpc>
              <a:buFont typeface="Arial" pitchFamily="34" charset="0"/>
              <a:buChar char="•"/>
            </a:pPr>
            <a:r>
              <a:rPr lang="en-US" sz="2400" dirty="0" smtClean="0">
                <a:latin typeface="Times New Roman" pitchFamily="18" charset="0"/>
                <a:cs typeface="Times New Roman" pitchFamily="18" charset="0"/>
              </a:rPr>
              <a:t>Transfer learning offers a number of advantages, the most important of which are reduced training time, improved neural network performance (in most circumstances), and the absence of a large amount of data.</a:t>
            </a:r>
          </a:p>
          <a:p>
            <a:pPr marL="339725" indent="-287338" algn="just">
              <a:lnSpc>
                <a:spcPts val="3280"/>
              </a:lnSpc>
              <a:buFont typeface="Arial" pitchFamily="34" charset="0"/>
              <a:buChar char="•"/>
            </a:pPr>
            <a:r>
              <a:rPr lang="en-US" sz="2400" dirty="0" smtClean="0">
                <a:latin typeface="Times New Roman" pitchFamily="18" charset="0"/>
                <a:cs typeface="Times New Roman" pitchFamily="18" charset="0"/>
              </a:rPr>
              <a:t>To train a neural model from scratch, a lot of data is typically needed, but access to that data isn’t always possible – this is when transfer learning comes in handy.</a:t>
            </a:r>
            <a:endParaRPr lang="en-US" sz="2400" dirty="0">
              <a:latin typeface="Times New Roman" pitchFamily="18" charset="0"/>
              <a:cs typeface="Times New Roman" pitchFamily="18" charset="0"/>
            </a:endParaRP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2" name="AutoShape 2"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4" name="AutoShape 4"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6" name="AutoShape 6"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90" name="AutoShape 10"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7108" name="AutoShape 4" descr="https://files.codingninjas.in/article_images/gated-recurrent-units-grus-7-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 name="Rectangle 13"/>
          <p:cNvSpPr/>
          <p:nvPr/>
        </p:nvSpPr>
        <p:spPr>
          <a:xfrm>
            <a:off x="533400" y="2996148"/>
            <a:ext cx="5791200" cy="3785652"/>
          </a:xfrm>
          <a:prstGeom prst="rect">
            <a:avLst/>
          </a:prstGeom>
        </p:spPr>
        <p:txBody>
          <a:bodyPr wrap="square">
            <a:spAutoFit/>
          </a:bodyPr>
          <a:lstStyle/>
          <a:p>
            <a:pPr algn="just">
              <a:lnSpc>
                <a:spcPts val="3200"/>
              </a:lnSpc>
            </a:pPr>
            <a:r>
              <a:rPr lang="en-US" sz="2200" dirty="0" smtClean="0">
                <a:latin typeface="Times New Roman" pitchFamily="18" charset="0"/>
                <a:cs typeface="Times New Roman" pitchFamily="18" charset="0"/>
              </a:rPr>
              <a:t>Because the model has already been pre-trained, a good machine learning model can be generated with fairly little training data using transfer learning. This is especially useful in natural language processing, where huge </a:t>
            </a:r>
            <a:r>
              <a:rPr lang="en-US" sz="2200" dirty="0" err="1" smtClean="0">
                <a:latin typeface="Times New Roman" pitchFamily="18" charset="0"/>
                <a:cs typeface="Times New Roman" pitchFamily="18" charset="0"/>
              </a:rPr>
              <a:t>labelled</a:t>
            </a:r>
            <a:r>
              <a:rPr lang="en-US" sz="2200" dirty="0" smtClean="0">
                <a:latin typeface="Times New Roman" pitchFamily="18" charset="0"/>
                <a:cs typeface="Times New Roman" pitchFamily="18" charset="0"/>
              </a:rPr>
              <a:t> datasets require a lot of expert knowledge. Additionally, training time is decreased because building a deep neural network from the start of a complex task can take days or even weeks.</a:t>
            </a:r>
            <a:endParaRPr lang="en-US" sz="2200" dirty="0">
              <a:latin typeface="Times New Roman" pitchFamily="18" charset="0"/>
              <a:cs typeface="Times New Roman" pitchFamily="18" charset="0"/>
            </a:endParaRPr>
          </a:p>
        </p:txBody>
      </p:sp>
      <p:pic>
        <p:nvPicPr>
          <p:cNvPr id="10242" name="Picture 2" descr="   Why Should You Use Transfer Learning?"/>
          <p:cNvPicPr>
            <a:picLocks noChangeAspect="1" noChangeArrowheads="1"/>
          </p:cNvPicPr>
          <p:nvPr/>
        </p:nvPicPr>
        <p:blipFill>
          <a:blip r:embed="rId2"/>
          <a:srcRect/>
          <a:stretch>
            <a:fillRect/>
          </a:stretch>
        </p:blipFill>
        <p:spPr bwMode="auto">
          <a:xfrm>
            <a:off x="6479628" y="2562880"/>
            <a:ext cx="5562600" cy="4171951"/>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5602"/>
            <a:ext cx="8739505" cy="553998"/>
          </a:xfrm>
        </p:spPr>
        <p:txBody>
          <a:bodyPr/>
          <a:lstStyle/>
          <a:p>
            <a:r>
              <a:rPr lang="en-US" sz="3600" dirty="0" smtClean="0">
                <a:latin typeface="Times New Roman" pitchFamily="18" charset="0"/>
                <a:cs typeface="Times New Roman" pitchFamily="18" charset="0"/>
              </a:rPr>
              <a:t>When to use transfer learning?</a:t>
            </a:r>
          </a:p>
        </p:txBody>
      </p:sp>
      <p:sp>
        <p:nvSpPr>
          <p:cNvPr id="3" name="Text Placeholder 2"/>
          <p:cNvSpPr>
            <a:spLocks noGrp="1"/>
          </p:cNvSpPr>
          <p:nvPr>
            <p:ph type="body" idx="1"/>
          </p:nvPr>
        </p:nvSpPr>
        <p:spPr>
          <a:xfrm>
            <a:off x="304800" y="609600"/>
            <a:ext cx="11658600" cy="5948744"/>
          </a:xfrm>
        </p:spPr>
        <p:txBody>
          <a:bodyPr/>
          <a:lstStyle/>
          <a:p>
            <a:pPr algn="just">
              <a:lnSpc>
                <a:spcPts val="3880"/>
              </a:lnSpc>
            </a:pPr>
            <a:r>
              <a:rPr lang="en-US" sz="2400" dirty="0" smtClean="0">
                <a:latin typeface="Times New Roman" pitchFamily="18" charset="0"/>
                <a:cs typeface="Times New Roman" pitchFamily="18" charset="0"/>
              </a:rPr>
              <a:t>Transfer learning is becoming the go-to way of working with deep learning models. The reasons are explained below.</a:t>
            </a:r>
          </a:p>
          <a:p>
            <a:pPr algn="just">
              <a:lnSpc>
                <a:spcPts val="3880"/>
              </a:lnSpc>
            </a:pPr>
            <a:r>
              <a:rPr lang="en-US" sz="2400" b="1" dirty="0" smtClean="0">
                <a:latin typeface="Times New Roman" pitchFamily="18" charset="0"/>
                <a:cs typeface="Times New Roman" pitchFamily="18" charset="0"/>
              </a:rPr>
              <a:t>Lack of data : </a:t>
            </a:r>
            <a:r>
              <a:rPr lang="en-US" sz="2400" dirty="0" smtClean="0">
                <a:latin typeface="Times New Roman" pitchFamily="18" charset="0"/>
                <a:cs typeface="Times New Roman" pitchFamily="18" charset="0"/>
              </a:rPr>
              <a:t>Deep learning models require a LOT of data for solving a task effectively. However, it is not often the case that so much data is available. For example, a company may wish to build a very specific spam filter to its internal communication system but does not possess lots of </a:t>
            </a:r>
            <a:r>
              <a:rPr lang="en-US" sz="2400" dirty="0" err="1" smtClean="0">
                <a:latin typeface="Times New Roman" pitchFamily="18" charset="0"/>
                <a:cs typeface="Times New Roman" pitchFamily="18" charset="0"/>
              </a:rPr>
              <a:t>labelled</a:t>
            </a:r>
            <a:r>
              <a:rPr lang="en-US" sz="2400" dirty="0" smtClean="0">
                <a:latin typeface="Times New Roman" pitchFamily="18" charset="0"/>
                <a:cs typeface="Times New Roman" pitchFamily="18" charset="0"/>
              </a:rPr>
              <a:t> data.</a:t>
            </a:r>
          </a:p>
          <a:p>
            <a:pPr algn="just">
              <a:lnSpc>
                <a:spcPts val="3880"/>
              </a:lnSpc>
            </a:pPr>
            <a:r>
              <a:rPr lang="en-US" sz="2400" dirty="0" smtClean="0">
                <a:latin typeface="Times New Roman" pitchFamily="18" charset="0"/>
                <a:cs typeface="Times New Roman" pitchFamily="18" charset="0"/>
              </a:rPr>
              <a:t>In that case, a specific target task can be solved using a pre-trained model for a similar source task.</a:t>
            </a:r>
          </a:p>
          <a:p>
            <a:pPr algn="just">
              <a:lnSpc>
                <a:spcPts val="3880"/>
              </a:lnSpc>
            </a:pPr>
            <a:r>
              <a:rPr lang="en-US" sz="2400" b="1" dirty="0" smtClean="0">
                <a:latin typeface="Times New Roman" pitchFamily="18" charset="0"/>
                <a:cs typeface="Times New Roman" pitchFamily="18" charset="0"/>
              </a:rPr>
              <a:t>The tasks can be different but their domains should be the same.</a:t>
            </a:r>
            <a:endParaRPr lang="en-US" sz="2400" dirty="0" smtClean="0">
              <a:latin typeface="Times New Roman" pitchFamily="18" charset="0"/>
              <a:cs typeface="Times New Roman" pitchFamily="18" charset="0"/>
            </a:endParaRPr>
          </a:p>
          <a:p>
            <a:pPr algn="just">
              <a:lnSpc>
                <a:spcPts val="3880"/>
              </a:lnSpc>
            </a:pPr>
            <a:r>
              <a:rPr lang="en-US" sz="2400" dirty="0" smtClean="0">
                <a:latin typeface="Times New Roman" pitchFamily="18" charset="0"/>
                <a:cs typeface="Times New Roman" pitchFamily="18" charset="0"/>
              </a:rPr>
              <a:t>In other words, you are unable to do transfer learning between speech recognition and image classification tasks since the input datasets are of different types.</a:t>
            </a:r>
          </a:p>
          <a:p>
            <a:pPr algn="just">
              <a:lnSpc>
                <a:spcPts val="3880"/>
              </a:lnSpc>
            </a:pPr>
            <a:r>
              <a:rPr lang="en-US" sz="2400" dirty="0" smtClean="0">
                <a:latin typeface="Times New Roman" pitchFamily="18" charset="0"/>
                <a:cs typeface="Times New Roman" pitchFamily="18" charset="0"/>
              </a:rPr>
              <a:t>What you can do is using a pre-trained image classifier on dog photos to predict cat photos.</a:t>
            </a: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2" name="AutoShape 2"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4" name="AutoShape 4"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6" name="AutoShape 6"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90" name="AutoShape 10"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7108" name="AutoShape 4" descr="https://files.codingninjas.in/article_images/gated-recurrent-units-grus-7-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8130" name="AutoShape 2" descr="https://files.codingninjas.in/article_images/gated-recurrent-units-grus-8-1650229238.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5602"/>
            <a:ext cx="8739505" cy="553998"/>
          </a:xfrm>
        </p:spPr>
        <p:txBody>
          <a:bodyPr/>
          <a:lstStyle/>
          <a:p>
            <a:r>
              <a:rPr lang="en-US" sz="3600" dirty="0" smtClean="0">
                <a:latin typeface="Times New Roman" pitchFamily="18" charset="0"/>
                <a:cs typeface="Times New Roman" pitchFamily="18" charset="0"/>
              </a:rPr>
              <a:t>When to use transfer learning?</a:t>
            </a:r>
          </a:p>
        </p:txBody>
      </p:sp>
      <p:sp>
        <p:nvSpPr>
          <p:cNvPr id="3" name="Text Placeholder 2"/>
          <p:cNvSpPr>
            <a:spLocks noGrp="1"/>
          </p:cNvSpPr>
          <p:nvPr>
            <p:ph type="body" idx="1"/>
          </p:nvPr>
        </p:nvSpPr>
        <p:spPr>
          <a:xfrm>
            <a:off x="304800" y="609600"/>
            <a:ext cx="11658600" cy="4919616"/>
          </a:xfrm>
        </p:spPr>
        <p:txBody>
          <a:bodyPr/>
          <a:lstStyle/>
          <a:p>
            <a:pPr algn="just">
              <a:lnSpc>
                <a:spcPct val="150000"/>
              </a:lnSpc>
            </a:pPr>
            <a:r>
              <a:rPr lang="en-US" sz="2400" b="1" dirty="0" smtClean="0">
                <a:latin typeface="Times New Roman" pitchFamily="18" charset="0"/>
                <a:cs typeface="Times New Roman" pitchFamily="18" charset="0"/>
              </a:rPr>
              <a:t>Speed</a:t>
            </a:r>
            <a:endParaRPr lang="en-US" sz="2400" dirty="0" smtClean="0">
              <a:latin typeface="Times New Roman" pitchFamily="18" charset="0"/>
              <a:cs typeface="Times New Roman" pitchFamily="18" charset="0"/>
            </a:endParaRPr>
          </a:p>
          <a:p>
            <a:pPr algn="just">
              <a:lnSpc>
                <a:spcPct val="150000"/>
              </a:lnSpc>
            </a:pPr>
            <a:r>
              <a:rPr lang="en-US" sz="2400" dirty="0" smtClean="0">
                <a:latin typeface="Times New Roman" pitchFamily="18" charset="0"/>
                <a:cs typeface="Times New Roman" pitchFamily="18" charset="0"/>
              </a:rPr>
              <a:t>Transfer learning cuts a large percentage of training time and allows for building various solutions instantly. In addition, it prevents from setting up a complex and costly Cloud GPU/TPU.</a:t>
            </a:r>
          </a:p>
          <a:p>
            <a:pPr algn="just">
              <a:lnSpc>
                <a:spcPct val="150000"/>
              </a:lnSpc>
            </a:pPr>
            <a:r>
              <a:rPr lang="en-US" sz="2400" b="1" dirty="0" smtClean="0">
                <a:latin typeface="Times New Roman" pitchFamily="18" charset="0"/>
                <a:cs typeface="Times New Roman" pitchFamily="18" charset="0"/>
              </a:rPr>
              <a:t>Social good</a:t>
            </a:r>
            <a:endParaRPr lang="en-US" sz="2400" dirty="0" smtClean="0">
              <a:latin typeface="Times New Roman" pitchFamily="18" charset="0"/>
              <a:cs typeface="Times New Roman" pitchFamily="18" charset="0"/>
            </a:endParaRPr>
          </a:p>
          <a:p>
            <a:pPr algn="just">
              <a:lnSpc>
                <a:spcPct val="150000"/>
              </a:lnSpc>
            </a:pPr>
            <a:r>
              <a:rPr lang="en-US" sz="2400" dirty="0" smtClean="0">
                <a:latin typeface="Times New Roman" pitchFamily="18" charset="0"/>
                <a:cs typeface="Times New Roman" pitchFamily="18" charset="0"/>
              </a:rPr>
              <a:t>Using transfer learning positively impacts the environment.</a:t>
            </a:r>
          </a:p>
          <a:p>
            <a:pPr algn="just">
              <a:lnSpc>
                <a:spcPct val="150000"/>
              </a:lnSpc>
            </a:pPr>
            <a:r>
              <a:rPr lang="en-US" sz="2400" dirty="0" smtClean="0">
                <a:latin typeface="Times New Roman" pitchFamily="18" charset="0"/>
                <a:cs typeface="Times New Roman" pitchFamily="18" charset="0"/>
              </a:rPr>
              <a:t>According, to a study in the </a:t>
            </a:r>
            <a:r>
              <a:rPr lang="en-US" sz="2400" u="sng" dirty="0" smtClean="0">
                <a:latin typeface="Times New Roman" pitchFamily="18" charset="0"/>
                <a:cs typeface="Times New Roman" pitchFamily="18" charset="0"/>
                <a:hlinkClick r:id="rId2"/>
              </a:rPr>
              <a:t>MIT Technology Review</a:t>
            </a:r>
            <a:r>
              <a:rPr lang="en-US" sz="2400" dirty="0" smtClean="0">
                <a:latin typeface="Times New Roman" pitchFamily="18" charset="0"/>
                <a:cs typeface="Times New Roman" pitchFamily="18" charset="0"/>
              </a:rPr>
              <a:t>, a large neural network (200M+ parameters) trained on a Cloud TPU produces CO2 equivalent to ~6 cars during their lifetime. Transfer learning can prevent the extensive usage of these powerful processing units.</a:t>
            </a:r>
            <a:endParaRPr lang="en-US" sz="2400" dirty="0">
              <a:latin typeface="Times New Roman" pitchFamily="18" charset="0"/>
              <a:cs typeface="Times New Roman" pitchFamily="18" charset="0"/>
            </a:endParaRP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2" name="AutoShape 2"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4" name="AutoShape 4"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6" name="AutoShape 6"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90" name="AutoShape 10"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7108" name="AutoShape 4" descr="https://files.codingninjas.in/article_images/gated-recurrent-units-grus-7-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8130" name="AutoShape 2" descr="https://files.codingninjas.in/article_images/gated-recurrent-units-grus-8-1650229238.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10405363" cy="584775"/>
          </a:xfrm>
        </p:spPr>
        <p:txBody>
          <a:bodyPr/>
          <a:lstStyle/>
          <a:p>
            <a:r>
              <a:rPr lang="en-US" sz="3800" dirty="0" smtClean="0"/>
              <a:t>Advantages : </a:t>
            </a:r>
            <a:endParaRPr lang="en-US" sz="3800" dirty="0"/>
          </a:p>
        </p:txBody>
      </p:sp>
      <p:sp>
        <p:nvSpPr>
          <p:cNvPr id="3" name="Text Placeholder 2"/>
          <p:cNvSpPr>
            <a:spLocks noGrp="1"/>
          </p:cNvSpPr>
          <p:nvPr>
            <p:ph type="body" idx="1"/>
          </p:nvPr>
        </p:nvSpPr>
        <p:spPr>
          <a:xfrm>
            <a:off x="228600" y="685800"/>
            <a:ext cx="11737975" cy="5085495"/>
          </a:xfrm>
        </p:spPr>
        <p:txBody>
          <a:bodyPr/>
          <a:lstStyle/>
          <a:p>
            <a:pPr algn="just" fontAlgn="base">
              <a:lnSpc>
                <a:spcPts val="4000"/>
              </a:lnSpc>
            </a:pPr>
            <a:r>
              <a:rPr lang="en-US" sz="2800" b="1" dirty="0" smtClean="0">
                <a:latin typeface="Times New Roman" pitchFamily="18" charset="0"/>
                <a:cs typeface="Times New Roman" pitchFamily="18" charset="0"/>
              </a:rPr>
              <a:t>Improved performance: </a:t>
            </a:r>
            <a:r>
              <a:rPr lang="en-US" sz="2800" dirty="0" smtClean="0">
                <a:latin typeface="Times New Roman" pitchFamily="18" charset="0"/>
                <a:cs typeface="Times New Roman" pitchFamily="18" charset="0"/>
              </a:rPr>
              <a:t>Deep transfer learning can improve the performance of a model on a new task by leveraging the knowledge learned from the pre-trained model. This is because deep neural networks have many parameters and are able to learn complex representations of data, so they can be fine-tuned to perform well on a new task.</a:t>
            </a:r>
          </a:p>
          <a:p>
            <a:pPr algn="just" fontAlgn="base">
              <a:lnSpc>
                <a:spcPts val="4000"/>
              </a:lnSpc>
            </a:pPr>
            <a:r>
              <a:rPr lang="en-US" sz="2800" b="1" dirty="0" smtClean="0">
                <a:latin typeface="Times New Roman" pitchFamily="18" charset="0"/>
                <a:cs typeface="Times New Roman" pitchFamily="18" charset="0"/>
              </a:rPr>
              <a:t>Reduced training time:</a:t>
            </a:r>
            <a:r>
              <a:rPr lang="en-US" sz="2800" dirty="0" smtClean="0">
                <a:latin typeface="Times New Roman" pitchFamily="18" charset="0"/>
                <a:cs typeface="Times New Roman" pitchFamily="18" charset="0"/>
              </a:rPr>
              <a:t> It can save time and computational resources by avoiding the need to train a model from scratch.</a:t>
            </a:r>
          </a:p>
          <a:p>
            <a:pPr algn="just" fontAlgn="base">
              <a:lnSpc>
                <a:spcPts val="4000"/>
              </a:lnSpc>
            </a:pPr>
            <a:r>
              <a:rPr lang="en-US" sz="2800" b="1" dirty="0" smtClean="0">
                <a:latin typeface="Times New Roman" pitchFamily="18" charset="0"/>
                <a:cs typeface="Times New Roman" pitchFamily="18" charset="0"/>
              </a:rPr>
              <a:t>Handling limited data:</a:t>
            </a:r>
            <a:r>
              <a:rPr lang="en-US" sz="2800" dirty="0" smtClean="0">
                <a:latin typeface="Times New Roman" pitchFamily="18" charset="0"/>
                <a:cs typeface="Times New Roman" pitchFamily="18" charset="0"/>
              </a:rPr>
              <a:t> It can be useful when there is limited labeled data available for a new task, as the pre-trained model can provide a good starting point for fine-tuning.</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10405363" cy="584775"/>
          </a:xfrm>
        </p:spPr>
        <p:txBody>
          <a:bodyPr/>
          <a:lstStyle/>
          <a:p>
            <a:r>
              <a:rPr lang="en-US" sz="3800" dirty="0" smtClean="0"/>
              <a:t>Advantages : </a:t>
            </a:r>
            <a:endParaRPr lang="en-US" sz="3800" dirty="0"/>
          </a:p>
        </p:txBody>
      </p:sp>
      <p:sp>
        <p:nvSpPr>
          <p:cNvPr id="3" name="Text Placeholder 2"/>
          <p:cNvSpPr>
            <a:spLocks noGrp="1"/>
          </p:cNvSpPr>
          <p:nvPr>
            <p:ph type="body" idx="1"/>
          </p:nvPr>
        </p:nvSpPr>
        <p:spPr>
          <a:xfrm>
            <a:off x="533400" y="1143000"/>
            <a:ext cx="11433175" cy="8186857"/>
          </a:xfrm>
        </p:spPr>
        <p:txBody>
          <a:bodyPr/>
          <a:lstStyle/>
          <a:p>
            <a:pPr fontAlgn="base"/>
            <a:r>
              <a:rPr lang="en-US" sz="2800" b="1" dirty="0" smtClean="0"/>
              <a:t>Improved performance: </a:t>
            </a:r>
            <a:r>
              <a:rPr lang="en-US" sz="2800" dirty="0" smtClean="0"/>
              <a:t>Deep transfer learning can improve the performance of a model on a new task by leveraging the knowledge learned from the pre-trained model. This is because deep neural networks have many parameters and are able to learn complex representations of data, so they can be fine-tuned to perform well on a new task.</a:t>
            </a:r>
          </a:p>
          <a:p>
            <a:pPr fontAlgn="base"/>
            <a:r>
              <a:rPr lang="en-US" sz="2800" b="1" dirty="0" smtClean="0"/>
              <a:t>Reduced training time:</a:t>
            </a:r>
            <a:r>
              <a:rPr lang="en-US" sz="2800" dirty="0" smtClean="0"/>
              <a:t> It can save time and computational resources by avoiding the need to train a model from scratch.</a:t>
            </a:r>
          </a:p>
          <a:p>
            <a:pPr fontAlgn="base"/>
            <a:r>
              <a:rPr lang="en-US" sz="2800" b="1" dirty="0" smtClean="0"/>
              <a:t>Handling limited data:</a:t>
            </a:r>
            <a:r>
              <a:rPr lang="en-US" sz="2800" dirty="0" smtClean="0"/>
              <a:t> It can be useful when there is limited labeled data available for a new task, as the pre-trained model can provide a good starting point for fine-tuning.</a:t>
            </a:r>
          </a:p>
          <a:p>
            <a:pPr fontAlgn="base"/>
            <a:r>
              <a:rPr lang="en-US" sz="2800" b="1" dirty="0" smtClean="0"/>
              <a:t>Cross-domain knowledge transfer:</a:t>
            </a:r>
            <a:r>
              <a:rPr lang="en-US" sz="2800" dirty="0" smtClean="0"/>
              <a:t> It can be used to transfer knowledge from one domain to another, by fine-tuning a pre-trained model on a new task in a different domain.</a:t>
            </a:r>
          </a:p>
          <a:p>
            <a:pPr fontAlgn="base"/>
            <a:r>
              <a:rPr lang="en-US" sz="2800" b="1" dirty="0" smtClean="0"/>
              <a:t>Handling low-resource tasks:</a:t>
            </a:r>
            <a:r>
              <a:rPr lang="en-US" sz="2800" dirty="0" smtClean="0"/>
              <a:t> It can be used to improve the performance of a model on a low-resource language or task by fine-tuning a pre-trained model on a larger dataset in a related task or language.</a:t>
            </a:r>
          </a:p>
          <a:p>
            <a:pPr fontAlgn="base"/>
            <a:r>
              <a:rPr lang="en-US" sz="2800" b="1" dirty="0" smtClean="0"/>
              <a:t>Avoiding overfitting:</a:t>
            </a:r>
            <a:r>
              <a:rPr lang="en-US" sz="2800" dirty="0" smtClean="0"/>
              <a:t> Using pre-trained models can help avoid overfitting, as the model has already learned general features from a large dataset and can adapt to a new task with less data.</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10405363" cy="615553"/>
          </a:xfrm>
        </p:spPr>
        <p:txBody>
          <a:bodyPr/>
          <a:lstStyle/>
          <a:p>
            <a:pPr fontAlgn="base"/>
            <a:r>
              <a:rPr lang="en-US" sz="4000" dirty="0" smtClean="0"/>
              <a:t>Disadvantages:</a:t>
            </a:r>
          </a:p>
        </p:txBody>
      </p:sp>
      <p:sp>
        <p:nvSpPr>
          <p:cNvPr id="3" name="Text Placeholder 2"/>
          <p:cNvSpPr>
            <a:spLocks noGrp="1"/>
          </p:cNvSpPr>
          <p:nvPr>
            <p:ph type="body" idx="1"/>
          </p:nvPr>
        </p:nvSpPr>
        <p:spPr>
          <a:xfrm>
            <a:off x="533400" y="1143000"/>
            <a:ext cx="11433175" cy="5103833"/>
          </a:xfrm>
        </p:spPr>
        <p:txBody>
          <a:bodyPr/>
          <a:lstStyle/>
          <a:p>
            <a:pPr marL="404813" indent="-404813" algn="just" fontAlgn="base">
              <a:lnSpc>
                <a:spcPct val="150000"/>
              </a:lnSpc>
              <a:buFont typeface="Arial" pitchFamily="34" charset="0"/>
              <a:buChar char="•"/>
            </a:pPr>
            <a:r>
              <a:rPr lang="en-US" sz="2800" b="1" dirty="0" smtClean="0"/>
              <a:t>Domain mismatch: </a:t>
            </a:r>
            <a:r>
              <a:rPr lang="en-US" sz="2800" dirty="0" smtClean="0"/>
              <a:t>The pre-trained model may not be well-suited to the second task if the two tasks are vastly different or the data distribution between the two tasks is very different.</a:t>
            </a:r>
          </a:p>
          <a:p>
            <a:pPr marL="404813" indent="-404813" algn="just" fontAlgn="base">
              <a:lnSpc>
                <a:spcPct val="150000"/>
              </a:lnSpc>
              <a:buFont typeface="Arial" pitchFamily="34" charset="0"/>
              <a:buChar char="•"/>
            </a:pPr>
            <a:r>
              <a:rPr lang="en-US" sz="2800" b="1" dirty="0" smtClean="0"/>
              <a:t>Overfitting</a:t>
            </a:r>
            <a:r>
              <a:rPr lang="en-US" sz="2800" dirty="0" smtClean="0"/>
              <a:t>: Transfer learning can lead to overfitting if the model is fine-tuned too much on the second task, as it may learn task-specific features that do not generalize well to new data.</a:t>
            </a:r>
          </a:p>
          <a:p>
            <a:pPr marL="404813" indent="-404813" algn="just" fontAlgn="base">
              <a:lnSpc>
                <a:spcPct val="150000"/>
              </a:lnSpc>
              <a:buFont typeface="Arial" pitchFamily="34" charset="0"/>
              <a:buChar char="•"/>
            </a:pPr>
            <a:r>
              <a:rPr lang="en-US" sz="2800" b="1" dirty="0" smtClean="0"/>
              <a:t>Complexity</a:t>
            </a:r>
            <a:r>
              <a:rPr lang="en-US" sz="2800" dirty="0" smtClean="0"/>
              <a:t>: The pre-trained model and the fine-tuning process can be computationally expensive and may require specialized hardware.</a:t>
            </a:r>
            <a:endParaRPr 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739505" cy="553998"/>
          </a:xfrm>
        </p:spPr>
        <p:txBody>
          <a:bodyPr/>
          <a:lstStyle/>
          <a:p>
            <a:r>
              <a:rPr lang="en-US" sz="3600" dirty="0" smtClean="0"/>
              <a:t>Transfer Learning </a:t>
            </a:r>
            <a:r>
              <a:rPr lang="en-US" sz="3600" smtClean="0"/>
              <a:t>in 5 </a:t>
            </a:r>
            <a:r>
              <a:rPr lang="en-US" sz="3600" dirty="0" smtClean="0"/>
              <a:t>steps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304800" y="762000"/>
            <a:ext cx="11658600" cy="3647152"/>
          </a:xfrm>
        </p:spPr>
        <p:txBody>
          <a:bodyPr/>
          <a:lstStyle/>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1400" dirty="0" smtClean="0">
              <a:latin typeface="Times New Roman" pitchFamily="18" charset="0"/>
              <a:cs typeface="Times New Roman" pitchFamily="18" charset="0"/>
            </a:endParaRPr>
          </a:p>
        </p:txBody>
      </p:sp>
      <p:sp>
        <p:nvSpPr>
          <p:cNvPr id="1026" name="AutoShape 2" descr="https://files.codingninjas.in/article_images/gated-recurrent-units-grus-3-1650229236.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2" name="AutoShape 2"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4" name="AutoShape 4"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86" name="AutoShape 6"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6090" name="AutoShape 10" descr="https://files.codingninjas.in/article_images/gated-recurrent-units-grus-5-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7108" name="AutoShape 4" descr="https://files.codingninjas.in/article_images/gated-recurrent-units-grus-7-1650229237.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8130" name="AutoShape 2" descr="https://files.codingninjas.in/article_images/gated-recurrent-units-grus-8-1650229238.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9154" name="AutoShape 2" descr="https://files.codingninjas.in/article_images/gated-recurrent-units-grus-10-1650229533.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66" name="Picture 2" descr="Transfer Learning process"/>
          <p:cNvPicPr>
            <a:picLocks noChangeAspect="1" noChangeArrowheads="1"/>
          </p:cNvPicPr>
          <p:nvPr/>
        </p:nvPicPr>
        <p:blipFill>
          <a:blip r:embed="rId2"/>
          <a:srcRect/>
          <a:stretch>
            <a:fillRect/>
          </a:stretch>
        </p:blipFill>
        <p:spPr bwMode="auto">
          <a:xfrm>
            <a:off x="228600" y="1752600"/>
            <a:ext cx="11658600" cy="3862388"/>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t>Transfer Learning in 6 steps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6032421"/>
          </a:xfrm>
        </p:spPr>
        <p:txBody>
          <a:bodyPr/>
          <a:lstStyle/>
          <a:p>
            <a:pPr algn="just"/>
            <a:r>
              <a:rPr lang="en-US" sz="2800" b="1" dirty="0" smtClean="0"/>
              <a:t>1. Obtain pre-trained model : </a:t>
            </a:r>
            <a:r>
              <a:rPr lang="en-US" sz="2800" dirty="0" smtClean="0"/>
              <a:t>The first step is to choose the pre-trained model we would like to keep as the base of our training, depending on the task. Transfer learning requires a strong correlation between the knowledge of the pre-trained source model and the target task domain for them to be compatible.</a:t>
            </a:r>
          </a:p>
          <a:p>
            <a:pPr algn="just"/>
            <a:r>
              <a:rPr lang="en-US" sz="2800" dirty="0" smtClean="0"/>
              <a:t>Here are some of the pre-trained models you can use:</a:t>
            </a:r>
          </a:p>
          <a:p>
            <a:r>
              <a:rPr lang="en-US" sz="2800" b="1" dirty="0" smtClean="0"/>
              <a:t>For </a:t>
            </a:r>
            <a:r>
              <a:rPr lang="en-US" sz="2800" b="1" dirty="0" smtClean="0">
                <a:hlinkClick r:id="rId2"/>
              </a:rPr>
              <a:t>computer vision:</a:t>
            </a:r>
            <a:endParaRPr lang="en-US" sz="2800" dirty="0" smtClean="0"/>
          </a:p>
          <a:p>
            <a:r>
              <a:rPr lang="en-US" sz="2800" dirty="0" smtClean="0"/>
              <a:t>	VGG-16, VGG-19</a:t>
            </a:r>
          </a:p>
          <a:p>
            <a:r>
              <a:rPr lang="en-US" sz="2800" dirty="0" smtClean="0"/>
              <a:t>	Inception V3</a:t>
            </a:r>
          </a:p>
          <a:p>
            <a:r>
              <a:rPr lang="en-US" sz="2800" dirty="0" smtClean="0"/>
              <a:t>	</a:t>
            </a:r>
            <a:r>
              <a:rPr lang="en-US" sz="2800" dirty="0" err="1" smtClean="0"/>
              <a:t>XCeption</a:t>
            </a:r>
            <a:endParaRPr lang="en-US" sz="2800" dirty="0" smtClean="0"/>
          </a:p>
          <a:p>
            <a:r>
              <a:rPr lang="en-US" sz="2800" dirty="0" smtClean="0"/>
              <a:t>	ResNet-50</a:t>
            </a:r>
            <a:br>
              <a:rPr lang="en-US" sz="2800" dirty="0" smtClean="0"/>
            </a:br>
            <a:r>
              <a:rPr lang="en-US" sz="2800" b="1" dirty="0" smtClean="0"/>
              <a:t>For NLP tasks:</a:t>
            </a:r>
            <a:endParaRPr lang="en-US" sz="2800" dirty="0" smtClean="0"/>
          </a:p>
          <a:p>
            <a:r>
              <a:rPr lang="en-US" sz="2800" dirty="0" smtClean="0"/>
              <a:t>	Word2Vec</a:t>
            </a:r>
          </a:p>
          <a:p>
            <a:r>
              <a:rPr lang="en-US" sz="2800" dirty="0" smtClean="0"/>
              <a:t>	</a:t>
            </a:r>
            <a:r>
              <a:rPr lang="en-US" sz="2800" dirty="0" err="1" smtClean="0"/>
              <a:t>GloVe</a:t>
            </a:r>
            <a:endParaRPr lang="en-US" sz="2800" dirty="0" smtClean="0"/>
          </a:p>
          <a:p>
            <a:r>
              <a:rPr lang="en-US" sz="2800" dirty="0" smtClean="0"/>
              <a:t>	</a:t>
            </a:r>
            <a:r>
              <a:rPr lang="en-US" sz="2800" dirty="0" err="1" smtClean="0"/>
              <a:t>FastText</a:t>
            </a:r>
            <a:endParaRPr 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5602"/>
            <a:ext cx="9120505" cy="553998"/>
          </a:xfrm>
        </p:spPr>
        <p:txBody>
          <a:bodyPr/>
          <a:lstStyle/>
          <a:p>
            <a:r>
              <a:rPr lang="en-US" sz="3600" dirty="0" smtClean="0"/>
              <a:t>Transfer Learning in 6 steps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533400"/>
            <a:ext cx="11734800" cy="430887"/>
          </a:xfrm>
        </p:spPr>
        <p:txBody>
          <a:bodyPr/>
          <a:lstStyle/>
          <a:p>
            <a:pPr algn="just"/>
            <a:r>
              <a:rPr lang="en-US" sz="2800" b="1" dirty="0" smtClean="0"/>
              <a:t>2. Create a base model:</a:t>
            </a:r>
            <a:endParaRPr lang="en-US" sz="2800" dirty="0" smtClean="0"/>
          </a:p>
        </p:txBody>
      </p:sp>
      <p:pic>
        <p:nvPicPr>
          <p:cNvPr id="26626" name="Picture 2" descr="Base model creation with the removal of classifiers."/>
          <p:cNvPicPr>
            <a:picLocks noChangeAspect="1" noChangeArrowheads="1"/>
          </p:cNvPicPr>
          <p:nvPr/>
        </p:nvPicPr>
        <p:blipFill>
          <a:blip r:embed="rId2"/>
          <a:srcRect/>
          <a:stretch>
            <a:fillRect/>
          </a:stretch>
        </p:blipFill>
        <p:spPr bwMode="auto">
          <a:xfrm>
            <a:off x="6019800" y="685800"/>
            <a:ext cx="6172200" cy="5791200"/>
          </a:xfrm>
          <a:prstGeom prst="rect">
            <a:avLst/>
          </a:prstGeom>
          <a:noFill/>
        </p:spPr>
      </p:pic>
      <p:sp>
        <p:nvSpPr>
          <p:cNvPr id="5" name="TextBox 4"/>
          <p:cNvSpPr txBox="1"/>
          <p:nvPr/>
        </p:nvSpPr>
        <p:spPr>
          <a:xfrm>
            <a:off x="381000" y="914400"/>
            <a:ext cx="5181600" cy="6001643"/>
          </a:xfrm>
          <a:prstGeom prst="rect">
            <a:avLst/>
          </a:prstGeom>
          <a:noFill/>
        </p:spPr>
        <p:txBody>
          <a:bodyPr wrap="square" rtlCol="0">
            <a:spAutoFit/>
          </a:bodyPr>
          <a:lstStyle/>
          <a:p>
            <a:pPr algn="just"/>
            <a:r>
              <a:rPr lang="en-US" sz="2400" dirty="0" smtClean="0"/>
              <a:t>The base model is one of the architectures such as </a:t>
            </a:r>
            <a:r>
              <a:rPr lang="en-US" sz="2400" dirty="0" err="1" smtClean="0"/>
              <a:t>ResNet</a:t>
            </a:r>
            <a:r>
              <a:rPr lang="en-US" sz="2400" dirty="0" smtClean="0"/>
              <a:t> or </a:t>
            </a:r>
            <a:r>
              <a:rPr lang="en-US" sz="2400" dirty="0" err="1" smtClean="0"/>
              <a:t>Xception</a:t>
            </a:r>
            <a:r>
              <a:rPr lang="en-US" sz="2400" dirty="0" smtClean="0"/>
              <a:t> which we have selected in the first step to be in close relation to our task. We can either download the network weights which saves the time of additional training of the model. Else, we will have to use the network architecture to train our model from scratch.</a:t>
            </a:r>
          </a:p>
          <a:p>
            <a:pPr algn="just"/>
            <a:r>
              <a:rPr lang="en-US" sz="2400" dirty="0" smtClean="0"/>
              <a:t>There can be a case where the base model will have more neurons in the final output layer than we require in our use case. In such scenarios, we need to remove the final output layer and change it accordingly.</a:t>
            </a:r>
            <a:endParaRPr 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t>Transfer Learning in 6 steps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5816977"/>
          </a:xfrm>
        </p:spPr>
        <p:txBody>
          <a:bodyPr/>
          <a:lstStyle/>
          <a:p>
            <a:pPr>
              <a:lnSpc>
                <a:spcPct val="150000"/>
              </a:lnSpc>
            </a:pPr>
            <a:r>
              <a:rPr lang="en-US" sz="2800" b="1" dirty="0" smtClean="0"/>
              <a:t>3. Freeze layers: </a:t>
            </a:r>
            <a:r>
              <a:rPr lang="en-US" sz="2800" dirty="0" smtClean="0"/>
              <a:t>Freezing the starting layers from the pre-trained model is essential to avoid the additional work of making the model learn the basic features.</a:t>
            </a:r>
          </a:p>
          <a:p>
            <a:pPr>
              <a:lnSpc>
                <a:spcPct val="150000"/>
              </a:lnSpc>
            </a:pPr>
            <a:r>
              <a:rPr lang="en-US" sz="2800" dirty="0" smtClean="0"/>
              <a:t>If we do not freeze the initial layers, we will lose all the learning that has already taken place.</a:t>
            </a:r>
          </a:p>
          <a:p>
            <a:pPr>
              <a:lnSpc>
                <a:spcPct val="150000"/>
              </a:lnSpc>
            </a:pPr>
            <a:r>
              <a:rPr lang="en-US" sz="2800" b="1" dirty="0" smtClean="0"/>
              <a:t>4. Add new trainable layers: </a:t>
            </a:r>
            <a:r>
              <a:rPr lang="en-US" sz="2800" dirty="0" smtClean="0"/>
              <a:t>The only knowledge we are reusing from the base model is the feature extraction layers. We need to add additional layers on top of them to predict the specialized tasks of the model. These are generally the final output layers.</a:t>
            </a:r>
            <a:endParaRPr 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t>Transfer Learning in 6 steps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5609100"/>
          </a:xfrm>
        </p:spPr>
        <p:txBody>
          <a:bodyPr/>
          <a:lstStyle/>
          <a:p>
            <a:pPr algn="just">
              <a:lnSpc>
                <a:spcPts val="3960"/>
              </a:lnSpc>
            </a:pPr>
            <a:r>
              <a:rPr lang="en-US" sz="2800" b="1" dirty="0" smtClean="0"/>
              <a:t>5. Train the new layers: </a:t>
            </a:r>
            <a:r>
              <a:rPr lang="en-US" sz="2800" dirty="0" smtClean="0"/>
              <a:t>The pre-trained model’s final output will most likely differ from the output we want for our model. For example, pre-trained models trained on the </a:t>
            </a:r>
            <a:r>
              <a:rPr lang="en-US" sz="2800" dirty="0" err="1" smtClean="0"/>
              <a:t>ImageNet</a:t>
            </a:r>
            <a:r>
              <a:rPr lang="en-US" sz="2800" dirty="0" smtClean="0"/>
              <a:t> dataset will output 1000 classes.</a:t>
            </a:r>
          </a:p>
          <a:p>
            <a:pPr algn="just">
              <a:lnSpc>
                <a:spcPts val="3960"/>
              </a:lnSpc>
            </a:pPr>
            <a:r>
              <a:rPr lang="en-US" sz="2800" dirty="0" smtClean="0"/>
              <a:t>However, we need our model to work for two classes. In this case, we have to train the model with a new output layer in place.</a:t>
            </a:r>
          </a:p>
          <a:p>
            <a:pPr algn="just">
              <a:lnSpc>
                <a:spcPts val="3960"/>
              </a:lnSpc>
            </a:pPr>
            <a:r>
              <a:rPr lang="en-US" sz="2800" b="1" dirty="0" smtClean="0"/>
              <a:t>6. Fine-tune your model: </a:t>
            </a:r>
            <a:r>
              <a:rPr lang="en-US" sz="2800" dirty="0" smtClean="0"/>
              <a:t>One method of improving the performance is fine-tuning.</a:t>
            </a:r>
          </a:p>
          <a:p>
            <a:pPr algn="just">
              <a:lnSpc>
                <a:spcPts val="3960"/>
              </a:lnSpc>
            </a:pPr>
            <a:r>
              <a:rPr lang="en-US" sz="2800" dirty="0" smtClean="0"/>
              <a:t>Fine-tuning involves unfreezing some part of the base model and training the entire model again on the whole dataset at a very low learning rate. The low learning rate will increase the performance of the model on the new dataset while preventing overfitting.</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11353800" cy="523220"/>
          </a:xfrm>
          <a:prstGeom prst="rect">
            <a:avLst/>
          </a:prstGeom>
        </p:spPr>
        <p:txBody>
          <a:bodyPr wrap="square">
            <a:spAutoFit/>
          </a:bodyPr>
          <a:lstStyle/>
          <a:p>
            <a:r>
              <a:rPr lang="en-US" sz="2800" dirty="0" smtClean="0">
                <a:latin typeface="Times New Roman" pitchFamily="18" charset="0"/>
                <a:cs typeface="Times New Roman" pitchFamily="18" charset="0"/>
              </a:rPr>
              <a:t>The table below shows the differences between the two approaches.</a:t>
            </a:r>
            <a:endParaRPr lang="en-US" sz="2800" dirty="0">
              <a:latin typeface="Times New Roman" pitchFamily="18" charset="0"/>
              <a:cs typeface="Times New Roman" pitchFamily="18" charset="0"/>
            </a:endParaRPr>
          </a:p>
        </p:txBody>
      </p:sp>
      <p:pic>
        <p:nvPicPr>
          <p:cNvPr id="37890" name="Picture 2"/>
          <p:cNvPicPr>
            <a:picLocks noChangeAspect="1" noChangeArrowheads="1"/>
          </p:cNvPicPr>
          <p:nvPr/>
        </p:nvPicPr>
        <p:blipFill>
          <a:blip r:embed="rId2"/>
          <a:srcRect/>
          <a:stretch>
            <a:fillRect/>
          </a:stretch>
        </p:blipFill>
        <p:spPr bwMode="auto">
          <a:xfrm>
            <a:off x="1066800" y="834573"/>
            <a:ext cx="9386888" cy="57948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492443"/>
          </a:xfrm>
        </p:spPr>
        <p:txBody>
          <a:bodyPr/>
          <a:lstStyle/>
          <a:p>
            <a:r>
              <a:rPr lang="en-US" dirty="0" smtClean="0">
                <a:latin typeface="Times New Roman" pitchFamily="18" charset="0"/>
                <a:cs typeface="Times New Roman" pitchFamily="18" charset="0"/>
              </a:rPr>
              <a:t>Transfer Learning Methods</a:t>
            </a:r>
            <a:endParaRPr lang="en-US" b="0" dirty="0"/>
          </a:p>
        </p:txBody>
      </p:sp>
      <p:sp>
        <p:nvSpPr>
          <p:cNvPr id="3" name="Text Placeholder 2"/>
          <p:cNvSpPr>
            <a:spLocks noGrp="1"/>
          </p:cNvSpPr>
          <p:nvPr>
            <p:ph type="body" idx="1"/>
          </p:nvPr>
        </p:nvSpPr>
        <p:spPr>
          <a:xfrm>
            <a:off x="304800" y="990600"/>
            <a:ext cx="11363325" cy="2518510"/>
          </a:xfrm>
        </p:spPr>
        <p:txBody>
          <a:bodyPr/>
          <a:lstStyle/>
          <a:p>
            <a:pPr algn="just">
              <a:lnSpc>
                <a:spcPct val="150000"/>
              </a:lnSpc>
            </a:pPr>
            <a:r>
              <a:rPr lang="en-US" sz="2800" dirty="0" smtClean="0">
                <a:latin typeface="Times New Roman" pitchFamily="18" charset="0"/>
                <a:cs typeface="Times New Roman" pitchFamily="18" charset="0"/>
              </a:rPr>
              <a:t>Depending on the task and the amount of labeled/unlabeled data available for source and target domains, transfer learning methods fall into one of three categories: inductive, </a:t>
            </a:r>
            <a:r>
              <a:rPr lang="en-US" sz="2800" dirty="0" err="1" smtClean="0">
                <a:latin typeface="Times New Roman" pitchFamily="18" charset="0"/>
                <a:cs typeface="Times New Roman" pitchFamily="18" charset="0"/>
              </a:rPr>
              <a:t>transductive</a:t>
            </a:r>
            <a:r>
              <a:rPr lang="en-US" sz="2800" dirty="0" smtClean="0">
                <a:latin typeface="Times New Roman" pitchFamily="18" charset="0"/>
                <a:cs typeface="Times New Roman" pitchFamily="18" charset="0"/>
              </a:rPr>
              <a:t>, and unsupervised.</a:t>
            </a:r>
          </a:p>
          <a:p>
            <a:pPr>
              <a:lnSpc>
                <a:spcPct val="150000"/>
              </a:lnSpc>
            </a:pPr>
            <a:endParaRPr lang="en-US" sz="2800" dirty="0"/>
          </a:p>
        </p:txBody>
      </p:sp>
      <p:pic>
        <p:nvPicPr>
          <p:cNvPr id="35842" name="Picture 2"/>
          <p:cNvPicPr>
            <a:picLocks noChangeAspect="1" noChangeArrowheads="1"/>
          </p:cNvPicPr>
          <p:nvPr/>
        </p:nvPicPr>
        <p:blipFill>
          <a:blip r:embed="rId2"/>
          <a:srcRect/>
          <a:stretch>
            <a:fillRect/>
          </a:stretch>
        </p:blipFill>
        <p:spPr bwMode="auto">
          <a:xfrm>
            <a:off x="990600" y="3505200"/>
            <a:ext cx="9323832"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Methods</a:t>
            </a:r>
            <a:endParaRPr lang="en-US" sz="3600" dirty="0">
              <a:latin typeface="Times New Roman" pitchFamily="18" charset="0"/>
              <a:cs typeface="Times New Roman" pitchFamily="18" charset="0"/>
            </a:endParaRPr>
          </a:p>
        </p:txBody>
      </p:sp>
      <p:pic>
        <p:nvPicPr>
          <p:cNvPr id="6146" name="Picture 2" descr="Three categories of transfer_learning"/>
          <p:cNvPicPr>
            <a:picLocks noChangeAspect="1" noChangeArrowheads="1"/>
          </p:cNvPicPr>
          <p:nvPr/>
        </p:nvPicPr>
        <p:blipFill>
          <a:blip r:embed="rId2"/>
          <a:srcRect/>
          <a:stretch>
            <a:fillRect/>
          </a:stretch>
        </p:blipFill>
        <p:spPr bwMode="auto">
          <a:xfrm>
            <a:off x="990376" y="685800"/>
            <a:ext cx="10283974" cy="617220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Methodologies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1" y="762000"/>
            <a:ext cx="11734800" cy="5170646"/>
          </a:xfrm>
        </p:spPr>
        <p:txBody>
          <a:bodyPr/>
          <a:lstStyle/>
          <a:p>
            <a:pPr algn="just">
              <a:lnSpc>
                <a:spcPct val="150000"/>
              </a:lnSpc>
            </a:pPr>
            <a:r>
              <a:rPr lang="en-US" sz="2800" dirty="0" smtClean="0">
                <a:latin typeface="Times New Roman" pitchFamily="18" charset="0"/>
                <a:cs typeface="Times New Roman" pitchFamily="18" charset="0"/>
              </a:rPr>
              <a:t>Transfer learning methods can be categorized based on the type of traditional ML algorithms involved, such as:</a:t>
            </a:r>
          </a:p>
          <a:p>
            <a:pPr marL="339725" indent="-339725" algn="just">
              <a:lnSpc>
                <a:spcPct val="150000"/>
              </a:lnSpc>
              <a:buFont typeface="+mj-lt"/>
              <a:buAutoNum type="arabicPeriod"/>
            </a:pPr>
            <a:r>
              <a:rPr lang="en-US" sz="2800" b="1" dirty="0" smtClean="0">
                <a:latin typeface="Times New Roman" pitchFamily="18" charset="0"/>
                <a:cs typeface="Times New Roman" pitchFamily="18" charset="0"/>
              </a:rPr>
              <a:t>Inductive Transfer learning:</a:t>
            </a:r>
            <a:r>
              <a:rPr lang="en-US" sz="2800" dirty="0" smtClean="0">
                <a:latin typeface="Times New Roman" pitchFamily="18" charset="0"/>
                <a:cs typeface="Times New Roman" pitchFamily="18" charset="0"/>
              </a:rPr>
              <a:t> In this scenario, the source and target domains are the same, yet the source and target tasks are different from each other. The algorithms try to utilize the inductive biases of the source domain to help improve the target task. Depending upon whether the source domain contains labeled data or not, this can be further divided into two subcategories, similar to multitask learning and self-taught learning, respectively.</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5602"/>
            <a:ext cx="9120505" cy="553998"/>
          </a:xfrm>
        </p:spPr>
        <p:txBody>
          <a:bodyPr/>
          <a:lstStyle/>
          <a:p>
            <a:r>
              <a:rPr lang="en-US" sz="3600" dirty="0" smtClean="0">
                <a:latin typeface="Times New Roman" pitchFamily="18" charset="0"/>
                <a:cs typeface="Times New Roman" pitchFamily="18" charset="0"/>
              </a:rPr>
              <a:t>Transfer Learning Methods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457200" y="533400"/>
            <a:ext cx="11125200" cy="5943600"/>
          </a:xfrm>
        </p:spPr>
        <p:txBody>
          <a:bodyPr/>
          <a:lstStyle/>
          <a:p>
            <a:pPr marL="339725" indent="-339725" algn="just">
              <a:lnSpc>
                <a:spcPct val="150000"/>
              </a:lnSpc>
              <a:buFont typeface="+mj-lt"/>
              <a:buAutoNum type="arabicPeriod" startAt="2"/>
            </a:pPr>
            <a:r>
              <a:rPr lang="en-US" sz="2800" b="1" dirty="0" smtClean="0">
                <a:latin typeface="Times New Roman" pitchFamily="18" charset="0"/>
                <a:cs typeface="Times New Roman" pitchFamily="18" charset="0"/>
              </a:rPr>
              <a:t>Transductive Transfer Learning: </a:t>
            </a:r>
            <a:r>
              <a:rPr lang="en-US" sz="2800" dirty="0" smtClean="0">
                <a:latin typeface="Times New Roman" pitchFamily="18" charset="0"/>
                <a:cs typeface="Times New Roman" pitchFamily="18" charset="0"/>
              </a:rPr>
              <a:t>The </a:t>
            </a:r>
            <a:r>
              <a:rPr lang="en-US" sz="2800" dirty="0" err="1" smtClean="0">
                <a:latin typeface="Times New Roman" pitchFamily="18" charset="0"/>
                <a:cs typeface="Times New Roman" pitchFamily="18" charset="0"/>
              </a:rPr>
              <a:t>transductive</a:t>
            </a:r>
            <a:r>
              <a:rPr lang="en-US" sz="2800" dirty="0" smtClean="0">
                <a:latin typeface="Times New Roman" pitchFamily="18" charset="0"/>
                <a:cs typeface="Times New Roman" pitchFamily="18" charset="0"/>
              </a:rPr>
              <a:t> transfer learning approach is used in scenarios where </a:t>
            </a:r>
            <a:r>
              <a:rPr lang="en-US" sz="2800" b="1" dirty="0" smtClean="0">
                <a:latin typeface="Times New Roman" pitchFamily="18" charset="0"/>
                <a:cs typeface="Times New Roman" pitchFamily="18" charset="0"/>
              </a:rPr>
              <a:t>the domains of the source and target tasks are similar</a:t>
            </a:r>
            <a:r>
              <a:rPr lang="en-US" sz="2800" dirty="0" smtClean="0">
                <a:latin typeface="Times New Roman" pitchFamily="18" charset="0"/>
                <a:cs typeface="Times New Roman" pitchFamily="18" charset="0"/>
              </a:rPr>
              <a:t> but not exactly the same. In these cases, the source domain usually has a large amount of labeled data, and the target domain contains only a limited amount of unlabeled data.</a:t>
            </a:r>
          </a:p>
          <a:p>
            <a:pPr marL="339725" indent="-339725" algn="just">
              <a:lnSpc>
                <a:spcPct val="150000"/>
              </a:lnSpc>
            </a:pPr>
            <a:r>
              <a:rPr lang="en-US" sz="2800" dirty="0" smtClean="0">
                <a:latin typeface="Times New Roman" pitchFamily="18" charset="0"/>
                <a:cs typeface="Times New Roman" pitchFamily="18" charset="0"/>
              </a:rPr>
              <a:t>	As a practical example of </a:t>
            </a:r>
            <a:r>
              <a:rPr lang="en-US" sz="2800" dirty="0" err="1" smtClean="0">
                <a:latin typeface="Times New Roman" pitchFamily="18" charset="0"/>
                <a:cs typeface="Times New Roman" pitchFamily="18" charset="0"/>
              </a:rPr>
              <a:t>transductive</a:t>
            </a:r>
            <a:r>
              <a:rPr lang="en-US" sz="2800" dirty="0" smtClean="0">
                <a:latin typeface="Times New Roman" pitchFamily="18" charset="0"/>
                <a:cs typeface="Times New Roman" pitchFamily="18" charset="0"/>
              </a:rPr>
              <a:t> learning, let’s consider reconstructing different emotions for specific individuals for whom we have a limited number of photographs.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5602"/>
            <a:ext cx="9120505" cy="553998"/>
          </a:xfrm>
        </p:spPr>
        <p:txBody>
          <a:bodyPr/>
          <a:lstStyle/>
          <a:p>
            <a:r>
              <a:rPr lang="en-US" sz="3600" dirty="0" smtClean="0">
                <a:latin typeface="Times New Roman" pitchFamily="18" charset="0"/>
                <a:cs typeface="Times New Roman" pitchFamily="18" charset="0"/>
              </a:rPr>
              <a:t>Transfer Learning Methods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1" y="533400"/>
            <a:ext cx="11734800" cy="461665"/>
          </a:xfrm>
        </p:spPr>
        <p:txBody>
          <a:bodyPr/>
          <a:lstStyle/>
          <a:p>
            <a:pPr marL="339725" indent="-339725" algn="just">
              <a:lnSpc>
                <a:spcPts val="3600"/>
              </a:lnSpc>
              <a:buFont typeface="+mj-lt"/>
              <a:buAutoNum type="arabicPeriod" startAt="2"/>
            </a:pPr>
            <a:r>
              <a:rPr lang="en-US" sz="2800" b="1" dirty="0" smtClean="0">
                <a:latin typeface="Times New Roman" pitchFamily="18" charset="0"/>
                <a:cs typeface="Times New Roman" pitchFamily="18" charset="0"/>
              </a:rPr>
              <a:t>Transductive Transfer Learning</a:t>
            </a:r>
            <a:endParaRPr lang="en-US" sz="2800" dirty="0" smtClean="0">
              <a:latin typeface="Times New Roman" pitchFamily="18" charset="0"/>
              <a:cs typeface="Times New Roman" pitchFamily="18" charset="0"/>
            </a:endParaRPr>
          </a:p>
        </p:txBody>
      </p:sp>
      <p:pic>
        <p:nvPicPr>
          <p:cNvPr id="1026" name="Picture 2" descr="Transductive transfer_learning"/>
          <p:cNvPicPr>
            <a:picLocks noChangeAspect="1" noChangeArrowheads="1"/>
          </p:cNvPicPr>
          <p:nvPr/>
        </p:nvPicPr>
        <p:blipFill>
          <a:blip r:embed="rId2"/>
          <a:srcRect/>
          <a:stretch>
            <a:fillRect/>
          </a:stretch>
        </p:blipFill>
        <p:spPr bwMode="auto">
          <a:xfrm>
            <a:off x="1145691" y="990600"/>
            <a:ext cx="9598509" cy="57608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5602"/>
            <a:ext cx="9120505" cy="553998"/>
          </a:xfrm>
        </p:spPr>
        <p:txBody>
          <a:bodyPr/>
          <a:lstStyle/>
          <a:p>
            <a:r>
              <a:rPr lang="en-US" sz="3600" dirty="0" smtClean="0">
                <a:latin typeface="Times New Roman" pitchFamily="18" charset="0"/>
                <a:cs typeface="Times New Roman" pitchFamily="18" charset="0"/>
              </a:rPr>
              <a:t>Transfer Learning Methods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1" y="664424"/>
            <a:ext cx="11734800" cy="5501506"/>
          </a:xfrm>
        </p:spPr>
        <p:txBody>
          <a:bodyPr/>
          <a:lstStyle/>
          <a:p>
            <a:pPr marL="514350" indent="-514350" algn="just">
              <a:lnSpc>
                <a:spcPts val="3900"/>
              </a:lnSpc>
              <a:buFont typeface="+mj-lt"/>
              <a:buAutoNum type="arabicPeriod" startAt="3"/>
            </a:pPr>
            <a:r>
              <a:rPr lang="en-US" sz="2800" b="1" dirty="0" smtClean="0">
                <a:latin typeface="Times New Roman" pitchFamily="18" charset="0"/>
                <a:cs typeface="Times New Roman" pitchFamily="18" charset="0"/>
              </a:rPr>
              <a:t>Unsupervised Transfer Learning: </a:t>
            </a:r>
            <a:r>
              <a:rPr lang="en-US" sz="2800" dirty="0" smtClean="0">
                <a:latin typeface="Times New Roman" pitchFamily="18" charset="0"/>
                <a:cs typeface="Times New Roman" pitchFamily="18" charset="0"/>
              </a:rPr>
              <a:t>This works similar to inductive transfer, with a focus on unsupervised tasks in the target domain. The source and target domains are similar, but the tasks are different. In this scenario,  labeled data is not available for both the source and the target domain. This involves a variety of </a:t>
            </a:r>
            <a:r>
              <a:rPr lang="en-US" sz="2800" dirty="0" smtClean="0">
                <a:latin typeface="Times New Roman" pitchFamily="18" charset="0"/>
                <a:cs typeface="Times New Roman" pitchFamily="18" charset="0"/>
                <a:hlinkClick r:id="rId2"/>
              </a:rPr>
              <a:t>use cases</a:t>
            </a:r>
            <a:r>
              <a:rPr lang="en-US" sz="2800" dirty="0" smtClean="0">
                <a:latin typeface="Times New Roman" pitchFamily="18" charset="0"/>
                <a:cs typeface="Times New Roman" pitchFamily="18" charset="0"/>
              </a:rPr>
              <a:t>, the most popular of which is anomaly detection.</a:t>
            </a:r>
          </a:p>
          <a:p>
            <a:pPr marL="514350" indent="-514350" algn="just">
              <a:lnSpc>
                <a:spcPts val="3900"/>
              </a:lnSpc>
              <a:buFont typeface="Arial" pitchFamily="34" charset="0"/>
              <a:buChar char="•"/>
            </a:pPr>
            <a:r>
              <a:rPr lang="en-US" sz="2800" dirty="0" smtClean="0">
                <a:latin typeface="Times New Roman" pitchFamily="18" charset="0"/>
                <a:cs typeface="Times New Roman" pitchFamily="18" charset="0"/>
              </a:rPr>
              <a:t>Whenever labeling data is time-consuming, labor-intensive, or even impossible, unsupervised transfer learning is the only option.</a:t>
            </a:r>
          </a:p>
          <a:p>
            <a:pPr marL="514350" indent="-514350" algn="just">
              <a:lnSpc>
                <a:spcPts val="3900"/>
              </a:lnSpc>
              <a:buFont typeface="Arial" pitchFamily="34" charset="0"/>
              <a:buChar char="•"/>
            </a:pPr>
            <a:r>
              <a:rPr lang="en-US" sz="2800" dirty="0" smtClean="0">
                <a:latin typeface="Times New Roman" pitchFamily="18" charset="0"/>
                <a:cs typeface="Times New Roman" pitchFamily="18" charset="0"/>
              </a:rPr>
              <a:t>A real-world example is multispectral pedestrian detection. The error cost for driverless cars </a:t>
            </a:r>
            <a:r>
              <a:rPr lang="en-US" sz="2800" dirty="0" err="1" smtClean="0">
                <a:latin typeface="Times New Roman" pitchFamily="18" charset="0"/>
                <a:cs typeface="Times New Roman" pitchFamily="18" charset="0"/>
              </a:rPr>
              <a:t>misdetecting</a:t>
            </a:r>
            <a:r>
              <a:rPr lang="en-US" sz="2800" dirty="0" smtClean="0">
                <a:latin typeface="Times New Roman" pitchFamily="18" charset="0"/>
                <a:cs typeface="Times New Roman" pitchFamily="18" charset="0"/>
              </a:rPr>
              <a:t> pedestrians is human life. To train the model, we need to provide many cases with different weather conditions, landscapes, people, additional objects that partially obscure the pedestrians.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734800" cy="6463308"/>
          </a:xfrm>
        </p:spPr>
        <p:txBody>
          <a:bodyPr/>
          <a:lstStyle/>
          <a:p>
            <a:pPr marL="866775" indent="-514350">
              <a:lnSpc>
                <a:spcPct val="200000"/>
              </a:lnSpc>
              <a:buFont typeface="+mj-lt"/>
              <a:buAutoNum type="arabicPeriod"/>
            </a:pPr>
            <a:r>
              <a:rPr lang="en-US" sz="2800" dirty="0" smtClean="0">
                <a:latin typeface="Times New Roman" pitchFamily="18" charset="0"/>
                <a:cs typeface="Times New Roman" pitchFamily="18" charset="0"/>
              </a:rPr>
              <a:t>Domain adaptation</a:t>
            </a:r>
          </a:p>
          <a:p>
            <a:pPr marL="866775" indent="-514350">
              <a:lnSpc>
                <a:spcPct val="200000"/>
              </a:lnSpc>
              <a:buFont typeface="+mj-lt"/>
              <a:buAutoNum type="arabicPeriod"/>
            </a:pPr>
            <a:r>
              <a:rPr lang="en-US" sz="2800" dirty="0" smtClean="0">
                <a:latin typeface="Times New Roman" pitchFamily="18" charset="0"/>
                <a:cs typeface="Times New Roman" pitchFamily="18" charset="0"/>
              </a:rPr>
              <a:t>Domain confusion</a:t>
            </a:r>
          </a:p>
          <a:p>
            <a:pPr marL="866775" indent="-514350">
              <a:lnSpc>
                <a:spcPct val="200000"/>
              </a:lnSpc>
              <a:buFont typeface="+mj-lt"/>
              <a:buAutoNum type="arabicPeriod"/>
            </a:pPr>
            <a:r>
              <a:rPr lang="en-US" sz="2800" dirty="0" smtClean="0">
                <a:latin typeface="Times New Roman" pitchFamily="18" charset="0"/>
                <a:cs typeface="Times New Roman" pitchFamily="18" charset="0"/>
              </a:rPr>
              <a:t>Multitask learning</a:t>
            </a:r>
          </a:p>
          <a:p>
            <a:pPr marL="866775" indent="-514350">
              <a:lnSpc>
                <a:spcPct val="200000"/>
              </a:lnSpc>
              <a:buFont typeface="+mj-lt"/>
              <a:buAutoNum type="arabicPeriod"/>
            </a:pPr>
            <a:r>
              <a:rPr lang="en-US" sz="2800" dirty="0" smtClean="0">
                <a:latin typeface="Times New Roman" pitchFamily="18" charset="0"/>
                <a:cs typeface="Times New Roman" pitchFamily="18" charset="0"/>
              </a:rPr>
              <a:t>One-shot learning</a:t>
            </a:r>
          </a:p>
          <a:p>
            <a:pPr marL="866775" indent="-514350">
              <a:lnSpc>
                <a:spcPct val="200000"/>
              </a:lnSpc>
              <a:buFont typeface="+mj-lt"/>
              <a:buAutoNum type="arabicPeriod"/>
            </a:pPr>
            <a:r>
              <a:rPr lang="en-US" sz="2800" dirty="0" smtClean="0">
                <a:latin typeface="Times New Roman" pitchFamily="18" charset="0"/>
                <a:cs typeface="Times New Roman" pitchFamily="18" charset="0"/>
              </a:rPr>
              <a:t>Zero-shot learning</a:t>
            </a:r>
            <a:r>
              <a:rPr lang="en-US" sz="2800" dirty="0" smtClean="0"/>
              <a:t/>
            </a:r>
            <a:br>
              <a:rPr lang="en-US" sz="2800" dirty="0" smtClean="0"/>
            </a:br>
            <a:endParaRPr lang="en-US" sz="2800" dirty="0" smtClean="0"/>
          </a:p>
          <a:p>
            <a:endParaRPr lang="en-US" sz="2800" dirty="0" smtClean="0"/>
          </a:p>
          <a:p>
            <a:r>
              <a:rPr lang="en-US" sz="2800" dirty="0" smtClean="0"/>
              <a:t/>
            </a:r>
            <a:br>
              <a:rPr lang="en-US" sz="2800" dirty="0" smtClean="0"/>
            </a:br>
            <a:endParaRPr lang="en-US" sz="2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430000" cy="1826013"/>
          </a:xfrm>
        </p:spPr>
        <p:txBody>
          <a:bodyPr/>
          <a:lstStyle/>
          <a:p>
            <a:pPr marL="514350" indent="-514350" algn="just">
              <a:lnSpc>
                <a:spcPts val="3600"/>
              </a:lnSpc>
              <a:buFont typeface="+mj-lt"/>
              <a:buAutoNum type="arabicPeriod"/>
            </a:pPr>
            <a:r>
              <a:rPr lang="en-US" sz="2600" b="1" dirty="0" smtClean="0">
                <a:latin typeface="Times New Roman" pitchFamily="18" charset="0"/>
                <a:cs typeface="Times New Roman" pitchFamily="18" charset="0"/>
              </a:rPr>
              <a:t>Domain adaptation :</a:t>
            </a:r>
            <a:r>
              <a:rPr lang="en-US" sz="2800" dirty="0" smtClean="0">
                <a:latin typeface="Times New Roman" pitchFamily="18" charset="0"/>
                <a:cs typeface="Times New Roman" pitchFamily="18" charset="0"/>
              </a:rPr>
              <a:t> Domain Adaptation is a technique to improve the performance of a model on a target domain containing insufficient annotated data by using the knowledge learned by the model from another related domain with </a:t>
            </a:r>
            <a:r>
              <a:rPr lang="en-US" sz="2800" dirty="0" smtClean="0">
                <a:latin typeface="Times New Roman" pitchFamily="18" charset="0"/>
                <a:cs typeface="Times New Roman" pitchFamily="18" charset="0"/>
                <a:hlinkClick r:id="rId2"/>
              </a:rPr>
              <a:t>adequate labeled data.</a:t>
            </a:r>
            <a:endParaRPr lang="en-US" sz="2600" dirty="0">
              <a:latin typeface="Times New Roman" pitchFamily="18" charset="0"/>
              <a:cs typeface="Times New Roman" pitchFamily="18" charset="0"/>
            </a:endParaRPr>
          </a:p>
        </p:txBody>
      </p:sp>
      <p:pic>
        <p:nvPicPr>
          <p:cNvPr id="7171" name="Picture 3"/>
          <p:cNvPicPr>
            <a:picLocks noChangeAspect="1" noChangeArrowheads="1"/>
          </p:cNvPicPr>
          <p:nvPr/>
        </p:nvPicPr>
        <p:blipFill>
          <a:blip r:embed="rId3"/>
          <a:srcRect/>
          <a:stretch>
            <a:fillRect/>
          </a:stretch>
        </p:blipFill>
        <p:spPr bwMode="auto">
          <a:xfrm>
            <a:off x="3096162" y="2567765"/>
            <a:ext cx="6200238" cy="42584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381000" y="762000"/>
            <a:ext cx="11277600" cy="5655394"/>
          </a:xfrm>
        </p:spPr>
        <p:txBody>
          <a:bodyPr/>
          <a:lstStyle/>
          <a:p>
            <a:pPr marL="514350" indent="-514350" algn="just">
              <a:lnSpc>
                <a:spcPts val="3600"/>
              </a:lnSpc>
              <a:buFont typeface="+mj-lt"/>
              <a:buAutoNum type="arabicPeriod"/>
            </a:pPr>
            <a:r>
              <a:rPr lang="en-US" sz="2800" b="1" dirty="0" smtClean="0">
                <a:latin typeface="Times New Roman" pitchFamily="18" charset="0"/>
                <a:cs typeface="Times New Roman" pitchFamily="18" charset="0"/>
              </a:rPr>
              <a:t>Domain adaptation :</a:t>
            </a:r>
            <a:r>
              <a:rPr lang="en-US" sz="3200" dirty="0" smtClean="0">
                <a:latin typeface="Times New Roman" pitchFamily="18" charset="0"/>
                <a:cs typeface="Times New Roman" pitchFamily="18" charset="0"/>
              </a:rPr>
              <a:t> </a:t>
            </a:r>
          </a:p>
          <a:p>
            <a:pPr algn="just">
              <a:lnSpc>
                <a:spcPts val="4100"/>
              </a:lnSpc>
            </a:pPr>
            <a:r>
              <a:rPr lang="en-US" sz="2800" b="1" dirty="0" smtClean="0">
                <a:latin typeface="Times New Roman" pitchFamily="18" charset="0"/>
                <a:cs typeface="Times New Roman" pitchFamily="18" charset="0"/>
              </a:rPr>
              <a:t>Types of Domain Adaptation</a:t>
            </a:r>
          </a:p>
          <a:p>
            <a:pPr algn="just">
              <a:lnSpc>
                <a:spcPts val="4100"/>
              </a:lnSpc>
            </a:pPr>
            <a:r>
              <a:rPr lang="en-US" sz="2800" dirty="0" smtClean="0">
                <a:latin typeface="Times New Roman" pitchFamily="18" charset="0"/>
                <a:cs typeface="Times New Roman" pitchFamily="18" charset="0"/>
              </a:rPr>
              <a:t>We consider three types of domain adaptation. These are defined by the number of labeled examples in the underlying domain:</a:t>
            </a:r>
          </a:p>
          <a:p>
            <a:pPr marL="744538" indent="-511175" algn="just">
              <a:lnSpc>
                <a:spcPts val="4100"/>
              </a:lnSpc>
              <a:buFont typeface="+mj-lt"/>
              <a:buAutoNum type="romanLcPeriod"/>
            </a:pPr>
            <a:r>
              <a:rPr lang="en-US" sz="2800" b="1" dirty="0" smtClean="0">
                <a:latin typeface="Times New Roman" pitchFamily="18" charset="0"/>
                <a:cs typeface="Times New Roman" pitchFamily="18" charset="0"/>
              </a:rPr>
              <a:t>Unsupervised domain adaptation </a:t>
            </a:r>
            <a:r>
              <a:rPr lang="en-US" sz="2800" dirty="0" smtClean="0">
                <a:latin typeface="Times New Roman" pitchFamily="18" charset="0"/>
                <a:cs typeface="Times New Roman" pitchFamily="18" charset="0"/>
              </a:rPr>
              <a:t>works with a source domain that has labeled examples, but also unlabeled examples. The target domain only has unlabeled examples.</a:t>
            </a:r>
          </a:p>
          <a:p>
            <a:pPr marL="744538" indent="-511175" algn="just">
              <a:lnSpc>
                <a:spcPts val="4100"/>
              </a:lnSpc>
              <a:buFont typeface="+mj-lt"/>
              <a:buAutoNum type="romanLcPeriod"/>
            </a:pPr>
            <a:r>
              <a:rPr lang="en-US" sz="2800" b="1" dirty="0" smtClean="0">
                <a:latin typeface="Times New Roman" pitchFamily="18" charset="0"/>
                <a:cs typeface="Times New Roman" pitchFamily="18" charset="0"/>
              </a:rPr>
              <a:t>Semi-supervised domain adaptation </a:t>
            </a:r>
            <a:r>
              <a:rPr lang="en-US" sz="2800" dirty="0" smtClean="0">
                <a:latin typeface="Times New Roman" pitchFamily="18" charset="0"/>
                <a:cs typeface="Times New Roman" pitchFamily="18" charset="0"/>
              </a:rPr>
              <a:t>expects some of the examples in the target domain are labeled.</a:t>
            </a:r>
          </a:p>
          <a:p>
            <a:pPr marL="744538" indent="-511175" algn="just">
              <a:lnSpc>
                <a:spcPts val="4100"/>
              </a:lnSpc>
              <a:buFont typeface="+mj-lt"/>
              <a:buAutoNum type="romanLcPeriod"/>
            </a:pPr>
            <a:r>
              <a:rPr lang="en-US" sz="2800" b="1" dirty="0" smtClean="0">
                <a:latin typeface="Times New Roman" pitchFamily="18" charset="0"/>
                <a:cs typeface="Times New Roman" pitchFamily="18" charset="0"/>
              </a:rPr>
              <a:t>Supervised domain</a:t>
            </a:r>
            <a:r>
              <a:rPr lang="en-US" sz="2800" dirty="0" smtClean="0">
                <a:latin typeface="Times New Roman" pitchFamily="18" charset="0"/>
                <a:cs typeface="Times New Roman" pitchFamily="18" charset="0"/>
              </a:rPr>
              <a:t> indicates that all examples are labeled</a:t>
            </a:r>
          </a:p>
          <a:p>
            <a:pPr marL="514350" indent="-514350" algn="just">
              <a:lnSpc>
                <a:spcPts val="3600"/>
              </a:lnSpc>
            </a:pP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430000" cy="5210529"/>
          </a:xfrm>
        </p:spPr>
        <p:txBody>
          <a:bodyPr/>
          <a:lstStyle/>
          <a:p>
            <a:pPr marL="514350" indent="-514350" algn="just">
              <a:lnSpc>
                <a:spcPts val="4100"/>
              </a:lnSpc>
              <a:buFont typeface="+mj-lt"/>
              <a:buAutoNum type="arabicPeriod" startAt="2"/>
            </a:pPr>
            <a:r>
              <a:rPr lang="en-US" sz="2800" b="1" dirty="0" smtClean="0">
                <a:latin typeface="Times New Roman" pitchFamily="18" charset="0"/>
                <a:cs typeface="Times New Roman" pitchFamily="18" charset="0"/>
              </a:rPr>
              <a:t>Domain confusion: </a:t>
            </a:r>
            <a:r>
              <a:rPr lang="en-US" sz="2800" dirty="0" smtClean="0">
                <a:latin typeface="Times New Roman" pitchFamily="18" charset="0"/>
                <a:cs typeface="Times New Roman" pitchFamily="18" charset="0"/>
              </a:rPr>
              <a:t>Different layers in a deep learning network capture different sets of features. We can utilize this fact to learn domain-invariant features and improve their transferability across domains. Instead of allowing the model to learn any representation, we nudge the representations of both domains to be as similar as possible.</a:t>
            </a:r>
          </a:p>
          <a:p>
            <a:pPr algn="just">
              <a:lnSpc>
                <a:spcPts val="4100"/>
              </a:lnSpc>
            </a:pPr>
            <a:endParaRPr lang="en-US" sz="1200" dirty="0" smtClean="0">
              <a:latin typeface="Times New Roman" pitchFamily="18" charset="0"/>
              <a:cs typeface="Times New Roman" pitchFamily="18" charset="0"/>
            </a:endParaRPr>
          </a:p>
          <a:p>
            <a:pPr algn="just">
              <a:lnSpc>
                <a:spcPts val="4100"/>
              </a:lnSpc>
              <a:tabLst>
                <a:tab pos="509588" algn="l"/>
              </a:tabLst>
            </a:pPr>
            <a:r>
              <a:rPr lang="en-US" sz="2800" dirty="0" smtClean="0">
                <a:latin typeface="Times New Roman" pitchFamily="18" charset="0"/>
                <a:cs typeface="Times New Roman" pitchFamily="18" charset="0"/>
              </a:rPr>
              <a:t>	This can be achieved by applying certain preprocessing steps directly to the 	representations themselves. The basic idea behind this technique is to add 	another 	objective to the source model to encourage similarity by 	confusing the domain itself, hence </a:t>
            </a:r>
            <a:r>
              <a:rPr lang="en-US" sz="2800" i="1" dirty="0" smtClean="0">
                <a:latin typeface="Times New Roman" pitchFamily="18" charset="0"/>
                <a:cs typeface="Times New Roman" pitchFamily="18" charset="0"/>
              </a:rPr>
              <a:t>domain confusion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838200"/>
            <a:ext cx="7620000" cy="5322739"/>
          </a:xfrm>
        </p:spPr>
        <p:txBody>
          <a:bodyPr/>
          <a:lstStyle/>
          <a:p>
            <a:pPr algn="just" defTabSz="509588">
              <a:lnSpc>
                <a:spcPts val="3800"/>
              </a:lnSpc>
            </a:pPr>
            <a:r>
              <a:rPr lang="en-US" sz="2400" b="1" dirty="0" smtClean="0">
                <a:latin typeface="Times New Roman" pitchFamily="18" charset="0"/>
                <a:cs typeface="Times New Roman" pitchFamily="18" charset="0"/>
              </a:rPr>
              <a:t>3. </a:t>
            </a:r>
            <a:r>
              <a:rPr lang="en-US" sz="2800" b="1" dirty="0" smtClean="0">
                <a:latin typeface="Times New Roman" pitchFamily="18" charset="0"/>
                <a:cs typeface="Times New Roman" pitchFamily="18" charset="0"/>
              </a:rPr>
              <a:t>Multitask learning: </a:t>
            </a:r>
            <a:r>
              <a:rPr lang="en-US" sz="2800" dirty="0" smtClean="0">
                <a:latin typeface="Times New Roman" pitchFamily="18" charset="0"/>
                <a:cs typeface="Times New Roman" pitchFamily="18" charset="0"/>
              </a:rPr>
              <a:t>Multitask learning is a 	slightly different flavor of the transfer learning 	world. In the case of multitask learning, 	several tasks are learned simultaneously 	without distinction between the source and 	targets. In this case, the learner receives 	information about multiple tasks at once, as 	compared to transfer learning, where the 	learner  	initially has no idea about the target 	task.</a:t>
            </a:r>
          </a:p>
          <a:p>
            <a:pPr marL="509588" algn="just">
              <a:lnSpc>
                <a:spcPts val="3800"/>
              </a:lnSpc>
            </a:pPr>
            <a:r>
              <a:rPr lang="en-US" sz="2800" dirty="0" smtClean="0">
                <a:latin typeface="Times New Roman" pitchFamily="18" charset="0"/>
                <a:cs typeface="Times New Roman" pitchFamily="18" charset="0"/>
              </a:rPr>
              <a:t>Multitask learning: Learner receives information from all tasks simultaneously</a:t>
            </a:r>
          </a:p>
        </p:txBody>
      </p:sp>
      <p:pic>
        <p:nvPicPr>
          <p:cNvPr id="1026" name="Picture 2" descr="https://packt-type-cloud.s3.amazonaws.com/uploads/sites/2432/2018/11/b9dc1182-d4ee-469a-aaad-672c3e37d6f9.png"/>
          <p:cNvPicPr>
            <a:picLocks noChangeAspect="1" noChangeArrowheads="1"/>
          </p:cNvPicPr>
          <p:nvPr/>
        </p:nvPicPr>
        <p:blipFill>
          <a:blip r:embed="rId2"/>
          <a:srcRect/>
          <a:stretch>
            <a:fillRect/>
          </a:stretch>
        </p:blipFill>
        <p:spPr bwMode="auto">
          <a:xfrm>
            <a:off x="8153400" y="2438400"/>
            <a:ext cx="3810000" cy="3429000"/>
          </a:xfrm>
          <a:prstGeom prst="rect">
            <a:avLst/>
          </a:prstGeom>
          <a:noFill/>
        </p:spPr>
      </p:pic>
      <p:sp>
        <p:nvSpPr>
          <p:cNvPr id="5" name="Rectangle 4"/>
          <p:cNvSpPr/>
          <p:nvPr/>
        </p:nvSpPr>
        <p:spPr>
          <a:xfrm>
            <a:off x="8001000" y="1219200"/>
            <a:ext cx="4022063" cy="369332"/>
          </a:xfrm>
          <a:prstGeom prst="rect">
            <a:avLst/>
          </a:prstGeom>
        </p:spPr>
        <p:txBody>
          <a:bodyPr wrap="none">
            <a:spAutoFit/>
          </a:bodyPr>
          <a:lstStyle/>
          <a:p>
            <a:pPr algn="just"/>
            <a:r>
              <a:rPr lang="en-US" dirty="0" smtClean="0"/>
              <a:t>This is depicted in the following diagram:</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430000" cy="2585323"/>
          </a:xfrm>
        </p:spPr>
        <p:txBody>
          <a:bodyPr/>
          <a:lstStyle/>
          <a:p>
            <a:pPr marL="287338" indent="-234950" algn="just">
              <a:lnSpc>
                <a:spcPct val="150000"/>
              </a:lnSpc>
            </a:pPr>
            <a:r>
              <a:rPr lang="en-US" sz="2800" b="1" dirty="0" smtClean="0">
                <a:latin typeface="Times New Roman" pitchFamily="18" charset="0"/>
                <a:cs typeface="Times New Roman" pitchFamily="18" charset="0"/>
              </a:rPr>
              <a:t>4 One-shot learning : </a:t>
            </a:r>
            <a:r>
              <a:rPr lang="en-US" sz="2800" dirty="0" smtClean="0">
                <a:latin typeface="Times New Roman" pitchFamily="18" charset="0"/>
                <a:cs typeface="Times New Roman" pitchFamily="18" charset="0"/>
              </a:rPr>
              <a:t>The model is trained on 1 sample each from every class. For instance, once a child is shown what an apple looks like, they can easily identify a different variety of apple (with one or a few training examples); this is not the case with ML and deep learning algorithms.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Times New Roman" pitchFamily="18" charset="0"/>
                <a:cs typeface="Times New Roman" pitchFamily="18" charset="0"/>
              </a:rPr>
              <a:t>Transfer Learning types</a:t>
            </a:r>
            <a:endParaRPr lang="en-US" sz="3600" dirty="0">
              <a:latin typeface="Times New Roman" pitchFamily="18" charset="0"/>
              <a:cs typeface="Times New Roman" pitchFamily="18" charset="0"/>
            </a:endParaRPr>
          </a:p>
        </p:txBody>
      </p:sp>
      <p:sp>
        <p:nvSpPr>
          <p:cNvPr id="3" name="Text Placeholder 2"/>
          <p:cNvSpPr>
            <a:spLocks noGrp="1"/>
          </p:cNvSpPr>
          <p:nvPr>
            <p:ph type="body" idx="1"/>
          </p:nvPr>
        </p:nvSpPr>
        <p:spPr>
          <a:xfrm>
            <a:off x="228600" y="762000"/>
            <a:ext cx="11430000" cy="4308872"/>
          </a:xfrm>
        </p:spPr>
        <p:txBody>
          <a:bodyPr/>
          <a:lstStyle/>
          <a:p>
            <a:pPr marL="514350" indent="-514350" algn="just">
              <a:buAutoNum type="arabicPlain" startAt="5"/>
            </a:pPr>
            <a:r>
              <a:rPr lang="en-US" sz="2800" b="1" dirty="0" smtClean="0">
                <a:latin typeface="Times New Roman" pitchFamily="18" charset="0"/>
                <a:cs typeface="Times New Roman" pitchFamily="18" charset="0"/>
              </a:rPr>
              <a:t>Zero-shot learning: </a:t>
            </a:r>
            <a:r>
              <a:rPr lang="en-US" sz="2800" dirty="0" smtClean="0">
                <a:latin typeface="Times New Roman" pitchFamily="18" charset="0"/>
                <a:cs typeface="Times New Roman" pitchFamily="18" charset="0"/>
              </a:rPr>
              <a:t>The model is trained in such a way that it is able to classify unseen classes in test dataset. Zero-data learning, or zero-short learning, methods make clever adjustments during the training stage itself to exploit additional information to understand unseen data.</a:t>
            </a:r>
            <a:r>
              <a:rPr lang="en-US" sz="2800" i="1" dirty="0" smtClean="0"/>
              <a:t> So it might be the case in the training dataset we have 5 classes and the test has some 6th class coming as well. Hence, Zero samples for some classes and hence called Zero-Shot Learning</a:t>
            </a:r>
            <a:endParaRPr lang="en-US" sz="2800" dirty="0" smtClean="0">
              <a:latin typeface="Times New Roman" pitchFamily="18" charset="0"/>
              <a:cs typeface="Times New Roman" pitchFamily="18" charset="0"/>
            </a:endParaRPr>
          </a:p>
          <a:p>
            <a:pPr marL="514350" indent="-514350" algn="just">
              <a:lnSpc>
                <a:spcPct val="150000"/>
              </a:lnSpc>
            </a:pPr>
            <a:r>
              <a:rPr lang="en-US" sz="2800" dirty="0" smtClean="0">
                <a:latin typeface="Times New Roman" pitchFamily="18" charset="0"/>
                <a:cs typeface="Times New Roman" pitchFamily="18" charset="0"/>
              </a:rPr>
              <a:t>  Zero-shot learning comes in handy in scenarios such as machine translation, where we may not even have labels in the target language.</a:t>
            </a:r>
            <a:endParaRPr lang="en-US"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304800" y="5105400"/>
            <a:ext cx="10953750" cy="1924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mn-lt"/>
                <a:cs typeface="Times New Roman" pitchFamily="18" charset="0"/>
              </a:rPr>
              <a:t>Transfer Learning </a:t>
            </a:r>
            <a:r>
              <a:rPr lang="en-US" sz="3600" dirty="0" smtClean="0">
                <a:latin typeface="+mn-lt"/>
              </a:rPr>
              <a:t>Applications</a:t>
            </a:r>
            <a:endParaRPr lang="en-US" sz="3600" dirty="0">
              <a:latin typeface="+mn-lt"/>
              <a:cs typeface="Times New Roman" pitchFamily="18" charset="0"/>
            </a:endParaRPr>
          </a:p>
        </p:txBody>
      </p:sp>
      <p:sp>
        <p:nvSpPr>
          <p:cNvPr id="3" name="Text Placeholder 2"/>
          <p:cNvSpPr>
            <a:spLocks noGrp="1"/>
          </p:cNvSpPr>
          <p:nvPr>
            <p:ph type="body" idx="1"/>
          </p:nvPr>
        </p:nvSpPr>
        <p:spPr>
          <a:xfrm>
            <a:off x="228600" y="762000"/>
            <a:ext cx="11430000" cy="5909310"/>
          </a:xfrm>
        </p:spPr>
        <p:txBody>
          <a:bodyPr/>
          <a:lstStyle/>
          <a:p>
            <a:pPr algn="just"/>
            <a:r>
              <a:rPr lang="en-US" sz="2400" b="1" dirty="0" smtClean="0"/>
              <a:t>Transfer learning for NLP:</a:t>
            </a:r>
            <a:r>
              <a:rPr lang="en-US" sz="2400" dirty="0" smtClean="0"/>
              <a:t> Textual data presents all sorts of challenges when it comes to ML and deep learning. These are usually transformed or vectorized using different techniques. Embeddings, such as Word2vec and </a:t>
            </a:r>
            <a:r>
              <a:rPr lang="en-US" sz="2400" dirty="0" err="1" smtClean="0"/>
              <a:t>FastText</a:t>
            </a:r>
            <a:r>
              <a:rPr lang="en-US" sz="2400" dirty="0" smtClean="0"/>
              <a:t>, have been prepared using different training datasets. These are utilized in different tasks, such as sentiment analysis and document classification, by transferring the knowledge from the source tasks. </a:t>
            </a:r>
          </a:p>
          <a:p>
            <a:pPr algn="just"/>
            <a:endParaRPr lang="en-US" sz="2400" dirty="0" smtClean="0"/>
          </a:p>
          <a:p>
            <a:pPr algn="just"/>
            <a:r>
              <a:rPr lang="en-US" sz="2400" b="1" dirty="0" smtClean="0"/>
              <a:t>Transfer learning for Audio/Speech:</a:t>
            </a:r>
            <a:r>
              <a:rPr lang="en-US" sz="2400" dirty="0" smtClean="0"/>
              <a:t> Similar to domains like NLP and Computer Vision, deep learning has been successfully used for tasks based on audio data. For instance, Automatic Speech Recognition (ASR) models developed for English have been successfully used to improve speech recognition performance for other languages, such as German. Also, automated-speaker identification is another example where transfer learning has greatly helped.</a:t>
            </a:r>
          </a:p>
          <a:p>
            <a:pPr algn="just"/>
            <a:endParaRPr lang="en-US" sz="2400" dirty="0" smtClean="0"/>
          </a:p>
          <a:p>
            <a:pPr algn="just"/>
            <a:r>
              <a:rPr lang="en-US" sz="2400" b="1" dirty="0" smtClean="0"/>
              <a:t>Transfer learning for Computer Vision:</a:t>
            </a:r>
            <a:r>
              <a:rPr lang="en-US" sz="2400" dirty="0" smtClean="0"/>
              <a:t> Deep learning has been quite successfully utilized for various computer vision tasks, such as object recognition and identification, using different CNN architectures.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mn-lt"/>
                <a:cs typeface="Times New Roman" pitchFamily="18" charset="0"/>
              </a:rPr>
              <a:t>Transfer Learning Challenges</a:t>
            </a:r>
            <a:endParaRPr lang="en-US" sz="3600" dirty="0">
              <a:latin typeface="+mn-lt"/>
              <a:cs typeface="Times New Roman" pitchFamily="18" charset="0"/>
            </a:endParaRPr>
          </a:p>
        </p:txBody>
      </p:sp>
      <p:sp>
        <p:nvSpPr>
          <p:cNvPr id="3" name="Text Placeholder 2"/>
          <p:cNvSpPr>
            <a:spLocks noGrp="1"/>
          </p:cNvSpPr>
          <p:nvPr>
            <p:ph type="body" idx="1"/>
          </p:nvPr>
        </p:nvSpPr>
        <p:spPr>
          <a:xfrm>
            <a:off x="304800" y="1066800"/>
            <a:ext cx="11430000" cy="487634"/>
          </a:xfrm>
        </p:spPr>
        <p:txBody>
          <a:bodyPr/>
          <a:lstStyle/>
          <a:p>
            <a:pPr algn="just">
              <a:lnSpc>
                <a:spcPct val="150000"/>
              </a:lnSpc>
            </a:pPr>
            <a:endParaRPr lang="en-US" sz="2400" dirty="0">
              <a:latin typeface="Times New Roman" pitchFamily="18" charset="0"/>
              <a:cs typeface="Times New Roman" pitchFamily="18" charset="0"/>
            </a:endParaRPr>
          </a:p>
        </p:txBody>
      </p:sp>
      <p:pic>
        <p:nvPicPr>
          <p:cNvPr id="4098" name="Picture 2" descr="http://www.allerin.com/wp-blog/wp-content/uploads/2020/02/Exploring-the-limits-of-transfer-learning.png"/>
          <p:cNvPicPr>
            <a:picLocks noChangeAspect="1" noChangeArrowheads="1"/>
          </p:cNvPicPr>
          <p:nvPr/>
        </p:nvPicPr>
        <p:blipFill>
          <a:blip r:embed="rId2"/>
          <a:srcRect/>
          <a:stretch>
            <a:fillRect/>
          </a:stretch>
        </p:blipFill>
        <p:spPr bwMode="auto">
          <a:xfrm>
            <a:off x="2667000" y="817028"/>
            <a:ext cx="6124575" cy="5602822"/>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mn-lt"/>
                <a:cs typeface="Times New Roman" pitchFamily="18" charset="0"/>
              </a:rPr>
              <a:t>Transfer Learning Challenges</a:t>
            </a:r>
            <a:endParaRPr lang="en-US" sz="3600" dirty="0">
              <a:latin typeface="+mn-lt"/>
              <a:cs typeface="Times New Roman" pitchFamily="18" charset="0"/>
            </a:endParaRPr>
          </a:p>
        </p:txBody>
      </p:sp>
      <p:sp>
        <p:nvSpPr>
          <p:cNvPr id="3" name="Text Placeholder 2"/>
          <p:cNvSpPr>
            <a:spLocks noGrp="1"/>
          </p:cNvSpPr>
          <p:nvPr>
            <p:ph type="body" idx="1"/>
          </p:nvPr>
        </p:nvSpPr>
        <p:spPr>
          <a:xfrm>
            <a:off x="304800" y="1066800"/>
            <a:ext cx="11430000" cy="5447645"/>
          </a:xfrm>
        </p:spPr>
        <p:txBody>
          <a:bodyPr/>
          <a:lstStyle/>
          <a:p>
            <a:pPr algn="just">
              <a:lnSpc>
                <a:spcPct val="150000"/>
              </a:lnSpc>
            </a:pPr>
            <a:r>
              <a:rPr lang="en-US" sz="2800" b="1" dirty="0" smtClean="0">
                <a:latin typeface="Times New Roman" pitchFamily="18" charset="0"/>
                <a:cs typeface="Times New Roman" pitchFamily="18" charset="0"/>
              </a:rPr>
              <a:t>Negative transfer: </a:t>
            </a:r>
            <a:r>
              <a:rPr lang="en-US" sz="2600" dirty="0" smtClean="0">
                <a:latin typeface="Times New Roman" pitchFamily="18" charset="0"/>
                <a:cs typeface="Times New Roman" pitchFamily="18" charset="0"/>
              </a:rPr>
              <a:t>If the transfer learning ends up with a decrease in the performance or accuracy of the new model, then it is called negative transfer. Transfer learning only works if the initial and target problems of both models are similar enough. If the first round of training data required for the new task is too far from the data of the old task, then the trained models might perform worse than expected. And, regardless of how similar developers may think these two sets of training data are, algorithms may not always agree with them. Currently, there are no specific standards on what tasks are related or how algorithms decide which tasks are related, which makes it challenging to find solutions to negative transfer.</a:t>
            </a: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9120505" cy="553998"/>
          </a:xfrm>
        </p:spPr>
        <p:txBody>
          <a:bodyPr/>
          <a:lstStyle/>
          <a:p>
            <a:r>
              <a:rPr lang="en-US" sz="3600" dirty="0" smtClean="0">
                <a:latin typeface="+mn-lt"/>
                <a:cs typeface="Times New Roman" pitchFamily="18" charset="0"/>
              </a:rPr>
              <a:t>Transfer Learning Challenges</a:t>
            </a:r>
            <a:endParaRPr lang="en-US" sz="3600" dirty="0">
              <a:latin typeface="+mn-lt"/>
              <a:cs typeface="Times New Roman" pitchFamily="18" charset="0"/>
            </a:endParaRPr>
          </a:p>
        </p:txBody>
      </p:sp>
      <p:sp>
        <p:nvSpPr>
          <p:cNvPr id="3" name="Text Placeholder 2"/>
          <p:cNvSpPr>
            <a:spLocks noGrp="1"/>
          </p:cNvSpPr>
          <p:nvPr>
            <p:ph type="body" idx="1"/>
          </p:nvPr>
        </p:nvSpPr>
        <p:spPr>
          <a:xfrm>
            <a:off x="304800" y="1066800"/>
            <a:ext cx="11430000" cy="4739759"/>
          </a:xfrm>
        </p:spPr>
        <p:txBody>
          <a:bodyPr/>
          <a:lstStyle/>
          <a:p>
            <a:r>
              <a:rPr lang="en-US" sz="2800" b="1" dirty="0" smtClean="0">
                <a:latin typeface="Times New Roman" pitchFamily="18" charset="0"/>
                <a:cs typeface="Times New Roman" pitchFamily="18" charset="0"/>
              </a:rPr>
              <a:t>The problem of overfitting</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In transfer learning, developers cannot remove the network layers to find optimal AI models with confidence. If they remove the first layers, then it will affect the dense layers as the number of trainable parameters will change. And dense layers can be a good point for reducing layers, but analyzing how many layers and neurons to remove so that the model does not become overfitting is time-consuming and challenging. </a:t>
            </a:r>
          </a:p>
          <a:p>
            <a:r>
              <a:rPr lang="en-US" sz="2800" dirty="0" smtClean="0">
                <a:latin typeface="Times New Roman" pitchFamily="18" charset="0"/>
                <a:cs typeface="Times New Roman" pitchFamily="18" charset="0"/>
              </a:rPr>
              <a:t>Overfitting is a significant limitation for almost all predicting technologies. It is also </a:t>
            </a:r>
            <a:r>
              <a:rPr lang="en-US" sz="2800" dirty="0" smtClean="0">
                <a:latin typeface="Times New Roman" pitchFamily="18" charset="0"/>
                <a:cs typeface="Times New Roman" pitchFamily="18" charset="0"/>
                <a:hlinkClick r:id="rId2"/>
              </a:rPr>
              <a:t>one of the common biases in big data</a:t>
            </a:r>
            <a:r>
              <a:rPr lang="en-US" sz="2800" dirty="0" smtClean="0">
                <a:latin typeface="Times New Roman" pitchFamily="18" charset="0"/>
                <a:cs typeface="Times New Roman" pitchFamily="18" charset="0"/>
              </a:rPr>
              <a:t>. But in context to transfer learning, overfitting happens when the new model learns details and noises from training data that negatively impact its outputs.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14692</TotalTime>
  <Words>1792</Words>
  <Application>Microsoft Office PowerPoint</Application>
  <PresentationFormat>Widescreen</PresentationFormat>
  <Paragraphs>148</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Times New Roman</vt:lpstr>
      <vt:lpstr>Office Theme</vt:lpstr>
      <vt:lpstr>Deep Learning  Transfer Learning</vt:lpstr>
      <vt:lpstr>Table of Contents</vt:lpstr>
      <vt:lpstr>WHAT IS TRANSFER LEARNING?</vt:lpstr>
      <vt:lpstr>WHAT IS TRANSFER LEARNING?</vt:lpstr>
      <vt:lpstr>WHAT IS TRANSFER LEARNING?</vt:lpstr>
      <vt:lpstr>How Transfer Learning Works?</vt:lpstr>
      <vt:lpstr>Why Should You Use Transfer Learning?</vt:lpstr>
      <vt:lpstr>When to use transfer learning?</vt:lpstr>
      <vt:lpstr>When to use transfer learning?</vt:lpstr>
      <vt:lpstr>Advantages : </vt:lpstr>
      <vt:lpstr>Advantages : </vt:lpstr>
      <vt:lpstr>Disadvantages:</vt:lpstr>
      <vt:lpstr>Transfer Learning in 5 steps</vt:lpstr>
      <vt:lpstr>Transfer Learning in 6 steps</vt:lpstr>
      <vt:lpstr>Transfer Learning in 6 steps</vt:lpstr>
      <vt:lpstr>Transfer Learning in 6 steps</vt:lpstr>
      <vt:lpstr>Transfer Learning in 6 steps</vt:lpstr>
      <vt:lpstr>PowerPoint Presentation</vt:lpstr>
      <vt:lpstr>Transfer Learning Methods</vt:lpstr>
      <vt:lpstr>Transfer Learning Methods</vt:lpstr>
      <vt:lpstr>Transfer Learning Methodologies</vt:lpstr>
      <vt:lpstr>Transfer Learning Methods</vt:lpstr>
      <vt:lpstr>Transfer Learning Methods</vt:lpstr>
      <vt:lpstr>Transfer Learning Methods</vt:lpstr>
      <vt:lpstr>Transfer Learning types</vt:lpstr>
      <vt:lpstr>Transfer Learning types</vt:lpstr>
      <vt:lpstr>Transfer Learning types</vt:lpstr>
      <vt:lpstr>Transfer Learning types</vt:lpstr>
      <vt:lpstr>Transfer Learning types</vt:lpstr>
      <vt:lpstr>Transfer Learning types</vt:lpstr>
      <vt:lpstr>Transfer Learning types</vt:lpstr>
      <vt:lpstr>Transfer Learning Applications</vt:lpstr>
      <vt:lpstr>Transfer Learning Challenges</vt:lpstr>
      <vt:lpstr>Transfer Learning Challenges</vt:lpstr>
      <vt:lpstr>Transfer Learning 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exam1</dc:creator>
  <cp:lastModifiedBy>Laptop-abc Laptop-abc</cp:lastModifiedBy>
  <cp:revision>103</cp:revision>
  <dcterms:created xsi:type="dcterms:W3CDTF">2023-07-06T03:56:45Z</dcterms:created>
  <dcterms:modified xsi:type="dcterms:W3CDTF">2025-11-10T05:10:22Z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2023-02-22T00:00:00Z</vt:filetime>
  </property>
  <property fmtid="{D5CDD505-2E9C-101B-9397-08002B2CF9AE}" pid="3" name="Creator">
    <vt:lpwstr>Microsoft® PowerPoint® for Microsoft 365</vt:lpwstr>
  </property>
  <property fmtid="{D5CDD505-2E9C-101B-9397-08002B2CF9AE}" pid="4" name="LastSaved">
    <vt:filetime>2023-07-06T00:00:00Z</vt:filetime>
  </property>
</Properties>
</file>